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3.png"/><Relationship Id="rId6" Type="http://schemas.openxmlformats.org/officeDocument/2006/relationships/image" Target="../media/image-6-6.png"/><Relationship Id="rId7" Type="http://schemas.openxmlformats.org/officeDocument/2006/relationships/image" Target="../media/image-6-3.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647"/>
        </a:solidFill>
      </p:bgPr>
    </p:bg>
    <p:spTree>
      <p:nvGrpSpPr>
        <p:cNvPr id="1" name=""/>
        <p:cNvGrpSpPr/>
        <p:nvPr/>
      </p:nvGrpSpPr>
      <p:grpSpPr>
        <a:xfrm>
          <a:off x="0" y="0"/>
          <a:ext cx="0" cy="0"/>
          <a:chOff x="0" y="0"/>
          <a:chExt cx="0" cy="0"/>
        </a:xfrm>
      </p:grpSpPr>
      <p:sp>
        <p:nvSpPr>
          <p:cNvPr id="2" name="Shape 0"/>
          <p:cNvSpPr/>
          <p:nvPr/>
        </p:nvSpPr>
        <p:spPr>
          <a:xfrm>
            <a:off x="9692640" y="4937760"/>
            <a:ext cx="3840480" cy="3840480"/>
          </a:xfrm>
          <a:prstGeom prst="ellipse">
            <a:avLst/>
          </a:prstGeom>
          <a:solidFill>
            <a:srgbClr val="081D38"/>
          </a:solidFill>
          <a:ln/>
        </p:spPr>
      </p:sp>
      <p:sp>
        <p:nvSpPr>
          <p:cNvPr id="3" name="Shape 1"/>
          <p:cNvSpPr/>
          <p:nvPr/>
        </p:nvSpPr>
        <p:spPr>
          <a:xfrm>
            <a:off x="11338560" y="6035040"/>
            <a:ext cx="2194560" cy="2194560"/>
          </a:xfrm>
          <a:prstGeom prst="ellipse">
            <a:avLst/>
          </a:prstGeom>
          <a:solidFill>
            <a:srgbClr val="2E6DA4">
              <a:alpha val="30000"/>
            </a:srgbClr>
          </a:solidFill>
          <a:ln/>
        </p:spPr>
      </p:sp>
      <p:sp>
        <p:nvSpPr>
          <p:cNvPr id="4" name="Shape 2"/>
          <p:cNvSpPr/>
          <p:nvPr/>
        </p:nvSpPr>
        <p:spPr>
          <a:xfrm>
            <a:off x="640080" y="548640"/>
            <a:ext cx="685800" cy="685800"/>
          </a:xfrm>
          <a:prstGeom prst="ellipse">
            <a:avLst/>
          </a:prstGeom>
          <a:solidFill>
            <a:srgbClr val="2E6DA4"/>
          </a:solidFill>
          <a:ln/>
        </p:spPr>
      </p:sp>
      <p:pic>
        <p:nvPicPr>
          <p:cNvPr id="5" name="Image 0" descr="/home/claude/icons/network.png">    </p:cNvPr>
          <p:cNvPicPr>
            <a:picLocks noChangeAspect="1"/>
          </p:cNvPicPr>
          <p:nvPr/>
        </p:nvPicPr>
        <p:blipFill>
          <a:blip r:embed="rId1"/>
          <a:stretch>
            <a:fillRect/>
          </a:stretch>
        </p:blipFill>
        <p:spPr>
          <a:xfrm>
            <a:off x="736092" y="644652"/>
            <a:ext cx="493776" cy="493776"/>
          </a:xfrm>
          <a:prstGeom prst="rect">
            <a:avLst/>
          </a:prstGeom>
        </p:spPr>
      </p:pic>
      <p:sp>
        <p:nvSpPr>
          <p:cNvPr id="6" name="Shape 3"/>
          <p:cNvSpPr/>
          <p:nvPr/>
        </p:nvSpPr>
        <p:spPr>
          <a:xfrm>
            <a:off x="10607040" y="5394960"/>
            <a:ext cx="1005840" cy="1005840"/>
          </a:xfrm>
          <a:prstGeom prst="ellipse">
            <a:avLst/>
          </a:prstGeom>
          <a:solidFill>
            <a:srgbClr val="0F3560"/>
          </a:solidFill>
          <a:ln/>
        </p:spPr>
      </p:sp>
      <p:pic>
        <p:nvPicPr>
          <p:cNvPr id="7" name="Image 1" descr="/home/claude/icons/activity.png">    </p:cNvPr>
          <p:cNvPicPr>
            <a:picLocks noChangeAspect="1"/>
          </p:cNvPicPr>
          <p:nvPr/>
        </p:nvPicPr>
        <p:blipFill>
          <a:blip r:embed="rId2"/>
          <a:stretch>
            <a:fillRect/>
          </a:stretch>
        </p:blipFill>
        <p:spPr>
          <a:xfrm>
            <a:off x="10747858" y="5535778"/>
            <a:ext cx="724205" cy="724205"/>
          </a:xfrm>
          <a:prstGeom prst="rect">
            <a:avLst/>
          </a:prstGeom>
        </p:spPr>
      </p:pic>
      <p:sp>
        <p:nvSpPr>
          <p:cNvPr id="8" name="Text 4"/>
          <p:cNvSpPr/>
          <p:nvPr/>
        </p:nvSpPr>
        <p:spPr>
          <a:xfrm>
            <a:off x="685800" y="2331720"/>
            <a:ext cx="8229600" cy="320040"/>
          </a:xfrm>
          <a:prstGeom prst="rect">
            <a:avLst/>
          </a:prstGeom>
          <a:noFill/>
          <a:ln/>
        </p:spPr>
        <p:txBody>
          <a:bodyPr wrap="square" rtlCol="0" anchor="ctr"/>
          <a:lstStyle/>
          <a:p>
            <a:pPr indent="0" marL="0">
              <a:buNone/>
            </a:pPr>
            <a:r>
              <a:rPr lang="en-US" sz="1300" b="1" spc="200" kern="0" dirty="0">
                <a:solidFill>
                  <a:srgbClr val="8FA7C4"/>
                </a:solidFill>
                <a:latin typeface="Calibri" pitchFamily="34" charset="0"/>
                <a:ea typeface="Calibri" pitchFamily="34" charset="-122"/>
                <a:cs typeface="Calibri" pitchFamily="34" charset="-120"/>
              </a:rPr>
              <a:t>TRAFFIC ANALYTICS · MACHINE LEARNING</a:t>
            </a:r>
            <a:endParaRPr lang="en-US" sz="1300" dirty="0"/>
          </a:p>
        </p:txBody>
      </p:sp>
      <p:sp>
        <p:nvSpPr>
          <p:cNvPr id="9" name="Text 5"/>
          <p:cNvSpPr/>
          <p:nvPr/>
        </p:nvSpPr>
        <p:spPr>
          <a:xfrm>
            <a:off x="685800" y="2651760"/>
            <a:ext cx="9601200" cy="1554480"/>
          </a:xfrm>
          <a:prstGeom prst="rect">
            <a:avLst/>
          </a:prstGeom>
          <a:noFill/>
          <a:ln/>
        </p:spPr>
        <p:txBody>
          <a:bodyPr wrap="square" rtlCol="0" anchor="ctr"/>
          <a:lstStyle/>
          <a:p>
            <a:pPr indent="0" marL="0">
              <a:lnSpc>
                <a:spcPts val="4200"/>
              </a:lnSpc>
              <a:buNone/>
            </a:pPr>
            <a:r>
              <a:rPr lang="en-US" sz="3600" b="1" dirty="0">
                <a:solidFill>
                  <a:srgbClr val="FFFFFF"/>
                </a:solidFill>
                <a:latin typeface="Georgia" pitchFamily="34" charset="0"/>
                <a:ea typeface="Georgia" pitchFamily="34" charset="-122"/>
                <a:cs typeface="Georgia" pitchFamily="34" charset="-120"/>
              </a:rPr>
              <a:t>Traffic Flow Pattern Clustering</a:t>
            </a:r>
            <a:endParaRPr lang="en-US" sz="3600" dirty="0"/>
          </a:p>
          <a:p>
            <a:pPr indent="0" marL="0">
              <a:lnSpc>
                <a:spcPts val="4200"/>
              </a:lnSpc>
              <a:buNone/>
            </a:pPr>
            <a:r>
              <a:rPr lang="en-US" sz="3600" b="1" dirty="0">
                <a:solidFill>
                  <a:srgbClr val="FFFFFF"/>
                </a:solidFill>
                <a:latin typeface="Georgia" pitchFamily="34" charset="0"/>
                <a:ea typeface="Georgia" pitchFamily="34" charset="-122"/>
                <a:cs typeface="Georgia" pitchFamily="34" charset="-120"/>
              </a:rPr>
              <a:t>Using K-Means and DBSCAN</a:t>
            </a:r>
            <a:endParaRPr lang="en-US" sz="3600" dirty="0"/>
          </a:p>
        </p:txBody>
      </p:sp>
      <p:sp>
        <p:nvSpPr>
          <p:cNvPr id="10" name="Shape 6"/>
          <p:cNvSpPr/>
          <p:nvPr/>
        </p:nvSpPr>
        <p:spPr>
          <a:xfrm>
            <a:off x="685800" y="4892040"/>
            <a:ext cx="5669280" cy="1051560"/>
          </a:xfrm>
          <a:prstGeom prst="rect">
            <a:avLst>
              <a:gd name="adj" fmla="val 6957"/>
            </a:avLst>
          </a:prstGeom>
          <a:solidFill>
            <a:srgbClr val="0F3560"/>
          </a:solidFill>
          <a:ln/>
        </p:spPr>
      </p:sp>
      <p:sp>
        <p:nvSpPr>
          <p:cNvPr id="11" name="Text 7"/>
          <p:cNvSpPr/>
          <p:nvPr/>
        </p:nvSpPr>
        <p:spPr>
          <a:xfrm>
            <a:off x="914400" y="5010912"/>
            <a:ext cx="1828800" cy="274320"/>
          </a:xfrm>
          <a:prstGeom prst="rect">
            <a:avLst/>
          </a:prstGeom>
          <a:noFill/>
          <a:ln/>
        </p:spPr>
        <p:txBody>
          <a:bodyPr wrap="square" rtlCol="0" anchor="ctr"/>
          <a:lstStyle/>
          <a:p>
            <a:pPr indent="0" marL="0">
              <a:buNone/>
            </a:pPr>
            <a:r>
              <a:rPr lang="en-US" sz="1000" b="1" spc="150" kern="0" dirty="0">
                <a:solidFill>
                  <a:srgbClr val="8FA7C4"/>
                </a:solidFill>
                <a:latin typeface="Calibri" pitchFamily="34" charset="0"/>
                <a:ea typeface="Calibri" pitchFamily="34" charset="-122"/>
                <a:cs typeface="Calibri" pitchFamily="34" charset="-120"/>
              </a:rPr>
              <a:t>SECTION</a:t>
            </a:r>
            <a:endParaRPr lang="en-US" sz="1000" dirty="0"/>
          </a:p>
        </p:txBody>
      </p:sp>
      <p:sp>
        <p:nvSpPr>
          <p:cNvPr id="12" name="Text 8"/>
          <p:cNvSpPr/>
          <p:nvPr/>
        </p:nvSpPr>
        <p:spPr>
          <a:xfrm>
            <a:off x="3017520" y="5010912"/>
            <a:ext cx="2743200" cy="274320"/>
          </a:xfrm>
          <a:prstGeom prst="rect">
            <a:avLst/>
          </a:prstGeom>
          <a:noFill/>
          <a:ln/>
        </p:spPr>
        <p:txBody>
          <a:bodyPr wrap="square" rtlCol="0" anchor="ctr"/>
          <a:lstStyle/>
          <a:p>
            <a:pPr indent="0" marL="0">
              <a:buNone/>
            </a:pPr>
            <a:r>
              <a:rPr lang="en-US" sz="1000" b="1" spc="150" kern="0" dirty="0">
                <a:solidFill>
                  <a:srgbClr val="8FA7C4"/>
                </a:solidFill>
                <a:latin typeface="Calibri" pitchFamily="34" charset="0"/>
                <a:ea typeface="Calibri" pitchFamily="34" charset="-122"/>
                <a:cs typeface="Calibri" pitchFamily="34" charset="-120"/>
              </a:rPr>
              <a:t>TEAM MEMBERS</a:t>
            </a:r>
            <a:endParaRPr lang="en-US" sz="1000" dirty="0"/>
          </a:p>
        </p:txBody>
      </p:sp>
      <p:sp>
        <p:nvSpPr>
          <p:cNvPr id="13" name="Text 9"/>
          <p:cNvSpPr/>
          <p:nvPr/>
        </p:nvSpPr>
        <p:spPr>
          <a:xfrm>
            <a:off x="914400" y="5285232"/>
            <a:ext cx="1828800" cy="502920"/>
          </a:xfrm>
          <a:prstGeom prst="rect">
            <a:avLst/>
          </a:prstGeom>
          <a:noFill/>
          <a:ln/>
        </p:spPr>
        <p:txBody>
          <a:bodyPr wrap="square"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09</a:t>
            </a:r>
            <a:endParaRPr lang="en-US" sz="2200" dirty="0"/>
          </a:p>
        </p:txBody>
      </p:sp>
      <p:sp>
        <p:nvSpPr>
          <p:cNvPr id="14" name="Text 10"/>
          <p:cNvSpPr/>
          <p:nvPr/>
        </p:nvSpPr>
        <p:spPr>
          <a:xfrm>
            <a:off x="3017520" y="5303520"/>
            <a:ext cx="3200400" cy="548640"/>
          </a:xfrm>
          <a:prstGeom prst="rect">
            <a:avLst/>
          </a:prstGeom>
          <a:noFill/>
          <a:ln/>
        </p:spPr>
        <p:txBody>
          <a:bodyPr wrap="square" rtlCol="0" anchor="ctr"/>
          <a:lstStyle/>
          <a:p>
            <a:pPr indent="0" marL="0">
              <a:lnSpc>
                <a:spcPts val="1800"/>
              </a:lnSpc>
              <a:buNone/>
            </a:pPr>
            <a:r>
              <a:rPr lang="en-US" sz="1200" dirty="0">
                <a:solidFill>
                  <a:srgbClr val="FFFFFF"/>
                </a:solidFill>
                <a:latin typeface="Calibri" pitchFamily="34" charset="0"/>
                <a:ea typeface="Calibri" pitchFamily="34" charset="-122"/>
                <a:cs typeface="Calibri" pitchFamily="34" charset="-120"/>
              </a:rPr>
              <a:t>Team Member Name (Roll No.)</a:t>
            </a:r>
            <a:endParaRPr lang="en-US" sz="1200" dirty="0"/>
          </a:p>
          <a:p>
            <a:pPr indent="0" marL="0">
              <a:lnSpc>
                <a:spcPts val="1800"/>
              </a:lnSpc>
              <a:buNone/>
            </a:pPr>
            <a:r>
              <a:rPr lang="en-US" sz="1200" dirty="0">
                <a:solidFill>
                  <a:srgbClr val="FFFFFF"/>
                </a:solidFill>
                <a:latin typeface="Calibri" pitchFamily="34" charset="0"/>
                <a:ea typeface="Calibri" pitchFamily="34" charset="-122"/>
                <a:cs typeface="Calibri" pitchFamily="34" charset="-120"/>
              </a:rPr>
              <a:t>Team Member Name (Roll No.)</a:t>
            </a:r>
            <a:endParaRPr lang="en-US" sz="1200" dirty="0"/>
          </a:p>
        </p:txBody>
      </p:sp>
      <p:sp>
        <p:nvSpPr>
          <p:cNvPr id="15" name="Text 11"/>
          <p:cNvSpPr/>
          <p:nvPr/>
        </p:nvSpPr>
        <p:spPr>
          <a:xfrm>
            <a:off x="10725912" y="6446520"/>
            <a:ext cx="1188720" cy="274320"/>
          </a:xfrm>
          <a:prstGeom prst="rect">
            <a:avLst/>
          </a:prstGeom>
          <a:noFill/>
          <a:ln/>
        </p:spPr>
        <p:txBody>
          <a:bodyPr wrap="square" rtlCol="0" anchor="ctr"/>
          <a:lstStyle/>
          <a:p>
            <a:pPr algn="r" indent="0" marL="0">
              <a:buNone/>
            </a:pPr>
            <a:r>
              <a:rPr lang="en-US" sz="1100" dirty="0">
                <a:solidFill>
                  <a:srgbClr val="8FA7C4"/>
                </a:solidFill>
                <a:latin typeface="Calibri" pitchFamily="34" charset="0"/>
                <a:ea typeface="Calibri" pitchFamily="34" charset="-122"/>
                <a:cs typeface="Calibri" pitchFamily="34" charset="-120"/>
              </a:rPr>
              <a:t>01 / 07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640080" cy="640080"/>
          </a:xfrm>
          <a:prstGeom prst="ellipse">
            <a:avLst/>
          </a:prstGeom>
          <a:solidFill>
            <a:srgbClr val="2E6DA4"/>
          </a:solidFill>
          <a:ln/>
        </p:spPr>
      </p:sp>
      <p:pic>
        <p:nvPicPr>
          <p:cNvPr id="3" name="Image 0" descr="/home/claude/icons/brain.png">    </p:cNvPr>
          <p:cNvPicPr>
            <a:picLocks noChangeAspect="1"/>
          </p:cNvPicPr>
          <p:nvPr/>
        </p:nvPicPr>
        <p:blipFill>
          <a:blip r:embed="rId1"/>
          <a:stretch>
            <a:fillRect/>
          </a:stretch>
        </p:blipFill>
        <p:spPr>
          <a:xfrm>
            <a:off x="638251" y="592531"/>
            <a:ext cx="460858" cy="460858"/>
          </a:xfrm>
          <a:prstGeom prst="rect">
            <a:avLst/>
          </a:prstGeom>
        </p:spPr>
      </p:pic>
      <p:sp>
        <p:nvSpPr>
          <p:cNvPr id="4" name="Text 1"/>
          <p:cNvSpPr/>
          <p:nvPr/>
        </p:nvSpPr>
        <p:spPr>
          <a:xfrm>
            <a:off x="1371600" y="457200"/>
            <a:ext cx="7315200" cy="320040"/>
          </a:xfrm>
          <a:prstGeom prst="rect">
            <a:avLst/>
          </a:prstGeom>
          <a:noFill/>
          <a:ln/>
        </p:spPr>
        <p:txBody>
          <a:bodyPr wrap="square" rtlCol="0" anchor="ctr"/>
          <a:lstStyle/>
          <a:p>
            <a:pPr indent="0" marL="0">
              <a:buNone/>
            </a:pPr>
            <a:r>
              <a:rPr lang="en-US" sz="1300" b="1" spc="200" kern="0" dirty="0">
                <a:solidFill>
                  <a:srgbClr val="2E6DA4"/>
                </a:solidFill>
                <a:latin typeface="Calibri" pitchFamily="34" charset="0"/>
                <a:ea typeface="Calibri" pitchFamily="34" charset="-122"/>
                <a:cs typeface="Calibri" pitchFamily="34" charset="-120"/>
              </a:rPr>
              <a:t>PROJECT OVERVIEW</a:t>
            </a:r>
            <a:endParaRPr lang="en-US" sz="1300" dirty="0"/>
          </a:p>
        </p:txBody>
      </p:sp>
      <p:sp>
        <p:nvSpPr>
          <p:cNvPr id="5" name="Text 2"/>
          <p:cNvSpPr/>
          <p:nvPr/>
        </p:nvSpPr>
        <p:spPr>
          <a:xfrm>
            <a:off x="1325880" y="713232"/>
            <a:ext cx="8229600" cy="640080"/>
          </a:xfrm>
          <a:prstGeom prst="rect">
            <a:avLst/>
          </a:prstGeom>
          <a:noFill/>
          <a:ln/>
        </p:spPr>
        <p:txBody>
          <a:bodyPr wrap="square" rtlCol="0" anchor="ctr"/>
          <a:lstStyle/>
          <a:p>
            <a:pPr indent="0" marL="0">
              <a:buNone/>
            </a:pPr>
            <a:r>
              <a:rPr lang="en-US" sz="3400" b="1" dirty="0">
                <a:solidFill>
                  <a:srgbClr val="15294D"/>
                </a:solidFill>
                <a:latin typeface="Georgia" pitchFamily="34" charset="0"/>
                <a:ea typeface="Georgia" pitchFamily="34" charset="-122"/>
                <a:cs typeface="Georgia" pitchFamily="34" charset="-120"/>
              </a:rPr>
              <a:t>Abstract</a:t>
            </a:r>
            <a:endParaRPr lang="en-US" sz="3400" dirty="0"/>
          </a:p>
        </p:txBody>
      </p:sp>
      <p:sp>
        <p:nvSpPr>
          <p:cNvPr id="6" name="Text 3"/>
          <p:cNvSpPr/>
          <p:nvPr/>
        </p:nvSpPr>
        <p:spPr>
          <a:xfrm>
            <a:off x="685800" y="1691640"/>
            <a:ext cx="10789920" cy="4206240"/>
          </a:xfrm>
          <a:prstGeom prst="rect">
            <a:avLst/>
          </a:prstGeom>
          <a:noFill/>
          <a:ln/>
        </p:spPr>
        <p:txBody>
          <a:bodyPr wrap="square" rtlCol="0" anchor="ctr"/>
          <a:lstStyle/>
          <a:p>
            <a:pPr algn="l" indent="0" marL="0">
              <a:lnSpc>
                <a:spcPts val="2400"/>
              </a:lnSpc>
              <a:buNone/>
            </a:pPr>
            <a:r>
              <a:rPr lang="en-US" sz="1500" dirty="0">
                <a:solidFill>
                  <a:srgbClr val="5C7089"/>
                </a:solidFill>
                <a:latin typeface="Calibri" pitchFamily="34" charset="0"/>
                <a:ea typeface="Calibri" pitchFamily="34" charset="-122"/>
                <a:cs typeface="Calibri" pitchFamily="34" charset="-120"/>
              </a:rPr>
              <a:t>Urban road networks generate large volumes of traffic data, and understanding how flow behaves across different locations and times is essential for effective traffic management. This project, “Traffic Flow Pattern Clustering Using K-Means and DBSCAN,” applies unsupervised machine learning to group road segments and time intervals that share similar traffic characteristics such as speed, volume, and density. The data is first cleaned and prepared by handling missing values, normalizing features, and engineering relevant traffic attributes. Two clustering algorithms, K-Means and DBSCAN, are implemented and compared to reveal natural traffic groupings and detect irregularities such as congestion hotspots or free-flow corridors. Their performance is evaluated using metrics such as the silhouette score, the Davies-Bouldin index, and visual cluster inspection. The project can be extended with real-time traffic feeds and geospatial visualization, helping planners and commuters better understand changing road conditions. Overall, the project demonstrates how clustering techniques can uncover hidden structure in traffic data to support smarter urban mobility decisions.</a:t>
            </a:r>
            <a:endParaRPr lang="en-US" sz="1500" dirty="0"/>
          </a:p>
        </p:txBody>
      </p:sp>
      <p:sp>
        <p:nvSpPr>
          <p:cNvPr id="7" name="Text 4"/>
          <p:cNvSpPr/>
          <p:nvPr/>
        </p:nvSpPr>
        <p:spPr>
          <a:xfrm>
            <a:off x="10725912" y="6446520"/>
            <a:ext cx="1188720" cy="274320"/>
          </a:xfrm>
          <a:prstGeom prst="rect">
            <a:avLst/>
          </a:prstGeom>
          <a:noFill/>
          <a:ln/>
        </p:spPr>
        <p:txBody>
          <a:bodyPr wrap="square" rtlCol="0" anchor="ctr"/>
          <a:lstStyle/>
          <a:p>
            <a:pPr algn="r" indent="0" marL="0">
              <a:buNone/>
            </a:pPr>
            <a:r>
              <a:rPr lang="en-US" sz="1100" dirty="0">
                <a:solidFill>
                  <a:srgbClr val="5C7089"/>
                </a:solidFill>
                <a:latin typeface="Calibri" pitchFamily="34" charset="0"/>
                <a:ea typeface="Calibri" pitchFamily="34" charset="-122"/>
                <a:cs typeface="Calibri" pitchFamily="34" charset="-120"/>
              </a:rPr>
              <a:t>02 / 07</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640080" cy="640080"/>
          </a:xfrm>
          <a:prstGeom prst="ellipse">
            <a:avLst/>
          </a:prstGeom>
          <a:solidFill>
            <a:srgbClr val="2E6DA4"/>
          </a:solidFill>
          <a:ln/>
        </p:spPr>
      </p:sp>
      <p:pic>
        <p:nvPicPr>
          <p:cNvPr id="3" name="Image 0" descr="/home/claude/icons/sitemap.png">    </p:cNvPr>
          <p:cNvPicPr>
            <a:picLocks noChangeAspect="1"/>
          </p:cNvPicPr>
          <p:nvPr/>
        </p:nvPicPr>
        <p:blipFill>
          <a:blip r:embed="rId1"/>
          <a:stretch>
            <a:fillRect/>
          </a:stretch>
        </p:blipFill>
        <p:spPr>
          <a:xfrm>
            <a:off x="638251" y="592531"/>
            <a:ext cx="460858" cy="460858"/>
          </a:xfrm>
          <a:prstGeom prst="rect">
            <a:avLst/>
          </a:prstGeom>
        </p:spPr>
      </p:pic>
      <p:sp>
        <p:nvSpPr>
          <p:cNvPr id="4" name="Text 1"/>
          <p:cNvSpPr/>
          <p:nvPr/>
        </p:nvSpPr>
        <p:spPr>
          <a:xfrm>
            <a:off x="1371600" y="457200"/>
            <a:ext cx="7315200" cy="320040"/>
          </a:xfrm>
          <a:prstGeom prst="rect">
            <a:avLst/>
          </a:prstGeom>
          <a:noFill/>
          <a:ln/>
        </p:spPr>
        <p:txBody>
          <a:bodyPr wrap="square" rtlCol="0" anchor="ctr"/>
          <a:lstStyle/>
          <a:p>
            <a:pPr indent="0" marL="0">
              <a:buNone/>
            </a:pPr>
            <a:r>
              <a:rPr lang="en-US" sz="1300" b="1" spc="200" kern="0" dirty="0">
                <a:solidFill>
                  <a:srgbClr val="2E6DA4"/>
                </a:solidFill>
                <a:latin typeface="Calibri" pitchFamily="34" charset="0"/>
                <a:ea typeface="Calibri" pitchFamily="34" charset="-122"/>
                <a:cs typeface="Calibri" pitchFamily="34" charset="-120"/>
              </a:rPr>
              <a:t>WHY THIS PROJECT</a:t>
            </a:r>
            <a:endParaRPr lang="en-US" sz="1300" dirty="0"/>
          </a:p>
        </p:txBody>
      </p:sp>
      <p:sp>
        <p:nvSpPr>
          <p:cNvPr id="5" name="Text 2"/>
          <p:cNvSpPr/>
          <p:nvPr/>
        </p:nvSpPr>
        <p:spPr>
          <a:xfrm>
            <a:off x="1325880" y="713232"/>
            <a:ext cx="8229600" cy="640080"/>
          </a:xfrm>
          <a:prstGeom prst="rect">
            <a:avLst/>
          </a:prstGeom>
          <a:noFill/>
          <a:ln/>
        </p:spPr>
        <p:txBody>
          <a:bodyPr wrap="square" rtlCol="0" anchor="ctr"/>
          <a:lstStyle/>
          <a:p>
            <a:pPr indent="0" marL="0">
              <a:buNone/>
            </a:pPr>
            <a:r>
              <a:rPr lang="en-US" sz="3400" b="1" dirty="0">
                <a:solidFill>
                  <a:srgbClr val="15294D"/>
                </a:solidFill>
                <a:latin typeface="Georgia" pitchFamily="34" charset="0"/>
                <a:ea typeface="Georgia" pitchFamily="34" charset="-122"/>
                <a:cs typeface="Georgia" pitchFamily="34" charset="-120"/>
              </a:rPr>
              <a:t>Problem Statement</a:t>
            </a:r>
            <a:endParaRPr lang="en-US" sz="3400" dirty="0"/>
          </a:p>
        </p:txBody>
      </p:sp>
      <p:sp>
        <p:nvSpPr>
          <p:cNvPr id="6" name="Text 3"/>
          <p:cNvSpPr/>
          <p:nvPr/>
        </p:nvSpPr>
        <p:spPr>
          <a:xfrm>
            <a:off x="685800" y="1691640"/>
            <a:ext cx="10515600" cy="640080"/>
          </a:xfrm>
          <a:prstGeom prst="rect">
            <a:avLst/>
          </a:prstGeom>
          <a:noFill/>
          <a:ln/>
        </p:spPr>
        <p:txBody>
          <a:bodyPr wrap="square" rtlCol="0" anchor="ctr"/>
          <a:lstStyle/>
          <a:p>
            <a:pPr indent="0" marL="0">
              <a:lnSpc>
                <a:spcPts val="2200"/>
              </a:lnSpc>
              <a:buNone/>
            </a:pPr>
            <a:r>
              <a:rPr lang="en-US" sz="1500" dirty="0">
                <a:solidFill>
                  <a:srgbClr val="5C7089"/>
                </a:solidFill>
                <a:latin typeface="Calibri" pitchFamily="34" charset="0"/>
                <a:ea typeface="Calibri" pitchFamily="34" charset="-122"/>
                <a:cs typeface="Calibri" pitchFamily="34" charset="-120"/>
              </a:rPr>
              <a:t>Traffic patterns vary widely across road segments and time periods, and manual analysis cannot keep pace with large volumes of sensor and GPS data.</a:t>
            </a:r>
            <a:endParaRPr lang="en-US" sz="1500" dirty="0"/>
          </a:p>
        </p:txBody>
      </p:sp>
      <p:sp>
        <p:nvSpPr>
          <p:cNvPr id="7" name="Shape 4"/>
          <p:cNvSpPr/>
          <p:nvPr/>
        </p:nvSpPr>
        <p:spPr>
          <a:xfrm>
            <a:off x="685800" y="2514600"/>
            <a:ext cx="5074920" cy="3566160"/>
          </a:xfrm>
          <a:prstGeom prst="rect">
            <a:avLst>
              <a:gd name="adj" fmla="val 1538"/>
            </a:avLst>
          </a:prstGeom>
          <a:solidFill>
            <a:srgbClr val="0A2647"/>
          </a:solidFill>
          <a:ln/>
        </p:spPr>
      </p:sp>
      <p:sp>
        <p:nvSpPr>
          <p:cNvPr id="8" name="Shape 5"/>
          <p:cNvSpPr/>
          <p:nvPr/>
        </p:nvSpPr>
        <p:spPr>
          <a:xfrm>
            <a:off x="1005840" y="2788920"/>
            <a:ext cx="594360" cy="594360"/>
          </a:xfrm>
          <a:prstGeom prst="ellipse">
            <a:avLst/>
          </a:prstGeom>
          <a:solidFill>
            <a:srgbClr val="2E6DA4"/>
          </a:solidFill>
          <a:ln/>
        </p:spPr>
      </p:sp>
      <p:pic>
        <p:nvPicPr>
          <p:cNvPr id="9" name="Image 1" descr="/home/claude/icons/warning.png">    </p:cNvPr>
          <p:cNvPicPr>
            <a:picLocks noChangeAspect="1"/>
          </p:cNvPicPr>
          <p:nvPr/>
        </p:nvPicPr>
        <p:blipFill>
          <a:blip r:embed="rId2"/>
          <a:stretch>
            <a:fillRect/>
          </a:stretch>
        </p:blipFill>
        <p:spPr>
          <a:xfrm>
            <a:off x="1089050" y="2872130"/>
            <a:ext cx="427939" cy="427939"/>
          </a:xfrm>
          <a:prstGeom prst="rect">
            <a:avLst/>
          </a:prstGeom>
        </p:spPr>
      </p:pic>
      <p:sp>
        <p:nvSpPr>
          <p:cNvPr id="10" name="Text 6"/>
          <p:cNvSpPr/>
          <p:nvPr/>
        </p:nvSpPr>
        <p:spPr>
          <a:xfrm>
            <a:off x="1783080" y="2907792"/>
            <a:ext cx="3657600" cy="365760"/>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THE PROBLEM</a:t>
            </a:r>
            <a:endParaRPr lang="en-US" sz="1800" dirty="0"/>
          </a:p>
        </p:txBody>
      </p:sp>
      <p:sp>
        <p:nvSpPr>
          <p:cNvPr id="11" name="Text 7"/>
          <p:cNvSpPr/>
          <p:nvPr/>
        </p:nvSpPr>
        <p:spPr>
          <a:xfrm>
            <a:off x="1005840" y="3566160"/>
            <a:ext cx="4526280" cy="2286000"/>
          </a:xfrm>
          <a:prstGeom prst="rect">
            <a:avLst/>
          </a:prstGeom>
          <a:noFill/>
          <a:ln/>
        </p:spPr>
        <p:txBody>
          <a:bodyPr wrap="square" rtlCol="0" anchor="ctr"/>
          <a:lstStyle/>
          <a:p>
            <a:pPr marL="342900" indent="-342900">
              <a:lnSpc>
                <a:spcPts val="2200"/>
              </a:lnSpc>
              <a:spcAft>
                <a:spcPts val="1400"/>
              </a:spcAft>
              <a:buSzPct val="100000"/>
              <a:buChar char="•"/>
            </a:pPr>
            <a:r>
              <a:rPr lang="en-US" sz="1350" dirty="0">
                <a:solidFill>
                  <a:srgbClr val="FFFFFF"/>
                </a:solidFill>
                <a:latin typeface="Calibri" pitchFamily="34" charset="0"/>
                <a:ea typeface="Calibri" pitchFamily="34" charset="-122"/>
                <a:cs typeface="Calibri" pitchFamily="34" charset="-120"/>
              </a:rPr>
              <a:t>Traffic behaviour differs sharply across roads, times, and weather conditions</a:t>
            </a:r>
            <a:endParaRPr lang="en-US" sz="1350" dirty="0"/>
          </a:p>
          <a:p>
            <a:pPr marL="342900" indent="-342900">
              <a:lnSpc>
                <a:spcPts val="2200"/>
              </a:lnSpc>
              <a:spcAft>
                <a:spcPts val="1400"/>
              </a:spcAft>
              <a:buSzPct val="100000"/>
              <a:buChar char="•"/>
            </a:pPr>
            <a:r>
              <a:rPr lang="en-US" sz="1350" dirty="0">
                <a:solidFill>
                  <a:srgbClr val="FFFFFF"/>
                </a:solidFill>
                <a:latin typeface="Calibri" pitchFamily="34" charset="0"/>
                <a:ea typeface="Calibri" pitchFamily="34" charset="-122"/>
                <a:cs typeface="Calibri" pitchFamily="34" charset="-120"/>
              </a:rPr>
              <a:t>Fixed-shape methods struggle with irregular congestion zones</a:t>
            </a:r>
            <a:endParaRPr lang="en-US" sz="1350" dirty="0"/>
          </a:p>
          <a:p>
            <a:pPr marL="342900" indent="-342900">
              <a:lnSpc>
                <a:spcPts val="2200"/>
              </a:lnSpc>
              <a:spcAft>
                <a:spcPts val="1400"/>
              </a:spcAft>
              <a:buSzPct val="100000"/>
              <a:buChar char="•"/>
            </a:pPr>
            <a:r>
              <a:rPr lang="en-US" sz="1350" dirty="0">
                <a:solidFill>
                  <a:srgbClr val="FFFFFF"/>
                </a:solidFill>
                <a:latin typeface="Calibri" pitchFamily="34" charset="0"/>
                <a:ea typeface="Calibri" pitchFamily="34" charset="-122"/>
                <a:cs typeface="Calibri" pitchFamily="34" charset="-120"/>
              </a:rPr>
              <a:t>Hidden groupings in flow data are hard to detect manually</a:t>
            </a:r>
            <a:endParaRPr lang="en-US" sz="1350" dirty="0"/>
          </a:p>
        </p:txBody>
      </p:sp>
      <p:pic>
        <p:nvPicPr>
          <p:cNvPr id="12" name="Image 2" descr="/home/claude/icons/trend.png">    </p:cNvPr>
          <p:cNvPicPr>
            <a:picLocks noChangeAspect="1"/>
          </p:cNvPicPr>
          <p:nvPr/>
        </p:nvPicPr>
        <p:blipFill>
          <a:blip r:embed="rId3"/>
          <a:stretch>
            <a:fillRect/>
          </a:stretch>
        </p:blipFill>
        <p:spPr>
          <a:xfrm>
            <a:off x="5989320" y="4023360"/>
            <a:ext cx="502920" cy="502920"/>
          </a:xfrm>
          <a:prstGeom prst="rect">
            <a:avLst/>
          </a:prstGeom>
        </p:spPr>
      </p:pic>
      <p:sp>
        <p:nvSpPr>
          <p:cNvPr id="13" name="Shape 8"/>
          <p:cNvSpPr/>
          <p:nvPr/>
        </p:nvSpPr>
        <p:spPr>
          <a:xfrm>
            <a:off x="6446520" y="2514600"/>
            <a:ext cx="5074920" cy="3566160"/>
          </a:xfrm>
          <a:prstGeom prst="rect">
            <a:avLst>
              <a:gd name="adj" fmla="val 1538"/>
            </a:avLst>
          </a:prstGeom>
          <a:solidFill>
            <a:srgbClr val="E8EEF9"/>
          </a:solidFill>
          <a:ln/>
        </p:spPr>
      </p:sp>
      <p:sp>
        <p:nvSpPr>
          <p:cNvPr id="14" name="Shape 9"/>
          <p:cNvSpPr/>
          <p:nvPr/>
        </p:nvSpPr>
        <p:spPr>
          <a:xfrm>
            <a:off x="6766560" y="2788920"/>
            <a:ext cx="594360" cy="594360"/>
          </a:xfrm>
          <a:prstGeom prst="ellipse">
            <a:avLst/>
          </a:prstGeom>
          <a:solidFill>
            <a:srgbClr val="2E6DA4"/>
          </a:solidFill>
          <a:ln/>
        </p:spPr>
      </p:sp>
      <p:pic>
        <p:nvPicPr>
          <p:cNvPr id="15" name="Image 3" descr="/home/claude/icons/check.png">    </p:cNvPr>
          <p:cNvPicPr>
            <a:picLocks noChangeAspect="1"/>
          </p:cNvPicPr>
          <p:nvPr/>
        </p:nvPicPr>
        <p:blipFill>
          <a:blip r:embed="rId4"/>
          <a:stretch>
            <a:fillRect/>
          </a:stretch>
        </p:blipFill>
        <p:spPr>
          <a:xfrm>
            <a:off x="6849770" y="2872130"/>
            <a:ext cx="427939" cy="427939"/>
          </a:xfrm>
          <a:prstGeom prst="rect">
            <a:avLst/>
          </a:prstGeom>
        </p:spPr>
      </p:pic>
      <p:sp>
        <p:nvSpPr>
          <p:cNvPr id="16" name="Text 10"/>
          <p:cNvSpPr/>
          <p:nvPr/>
        </p:nvSpPr>
        <p:spPr>
          <a:xfrm>
            <a:off x="7543800" y="2907792"/>
            <a:ext cx="3657600" cy="365760"/>
          </a:xfrm>
          <a:prstGeom prst="rect">
            <a:avLst/>
          </a:prstGeom>
          <a:noFill/>
          <a:ln/>
        </p:spPr>
        <p:txBody>
          <a:bodyPr wrap="square" rtlCol="0" anchor="ctr"/>
          <a:lstStyle/>
          <a:p>
            <a:pPr indent="0" marL="0">
              <a:buNone/>
            </a:pPr>
            <a:r>
              <a:rPr lang="en-US" sz="1800" b="1" dirty="0">
                <a:solidFill>
                  <a:srgbClr val="15294D"/>
                </a:solidFill>
                <a:latin typeface="Georgia" pitchFamily="34" charset="0"/>
                <a:ea typeface="Georgia" pitchFamily="34" charset="-122"/>
                <a:cs typeface="Georgia" pitchFamily="34" charset="-120"/>
              </a:rPr>
              <a:t>THE SOLUTION</a:t>
            </a:r>
            <a:endParaRPr lang="en-US" sz="1800" dirty="0"/>
          </a:p>
        </p:txBody>
      </p:sp>
      <p:sp>
        <p:nvSpPr>
          <p:cNvPr id="17" name="Text 11"/>
          <p:cNvSpPr/>
          <p:nvPr/>
        </p:nvSpPr>
        <p:spPr>
          <a:xfrm>
            <a:off x="6766560" y="3566160"/>
            <a:ext cx="4526280" cy="2286000"/>
          </a:xfrm>
          <a:prstGeom prst="rect">
            <a:avLst/>
          </a:prstGeom>
          <a:noFill/>
          <a:ln/>
        </p:spPr>
        <p:txBody>
          <a:bodyPr wrap="square" rtlCol="0" anchor="ctr"/>
          <a:lstStyle/>
          <a:p>
            <a:pPr marL="342900" indent="-342900">
              <a:lnSpc>
                <a:spcPts val="1900"/>
              </a:lnSpc>
              <a:spcAft>
                <a:spcPts val="900"/>
              </a:spcAft>
              <a:buSzPct val="100000"/>
              <a:buChar char="•"/>
            </a:pPr>
            <a:r>
              <a:rPr lang="en-US" sz="1300" dirty="0">
                <a:solidFill>
                  <a:srgbClr val="15294D"/>
                </a:solidFill>
                <a:latin typeface="Calibri" pitchFamily="34" charset="0"/>
                <a:ea typeface="Calibri" pitchFamily="34" charset="-122"/>
                <a:cs typeface="Calibri" pitchFamily="34" charset="-120"/>
              </a:rPr>
              <a:t>Uses real-world traffic speed, volume, and density data for analysis</a:t>
            </a:r>
            <a:endParaRPr lang="en-US" sz="1300" dirty="0"/>
          </a:p>
          <a:p>
            <a:pPr marL="342900" indent="-342900">
              <a:lnSpc>
                <a:spcPts val="1900"/>
              </a:lnSpc>
              <a:spcAft>
                <a:spcPts val="900"/>
              </a:spcAft>
              <a:buSzPct val="100000"/>
              <a:buChar char="•"/>
            </a:pPr>
            <a:r>
              <a:rPr lang="en-US" sz="1300" dirty="0">
                <a:solidFill>
                  <a:srgbClr val="15294D"/>
                </a:solidFill>
                <a:latin typeface="Calibri" pitchFamily="34" charset="0"/>
                <a:ea typeface="Calibri" pitchFamily="34" charset="-122"/>
                <a:cs typeface="Calibri" pitchFamily="34" charset="-120"/>
              </a:rPr>
              <a:t>Groups road segments and time slots into meaningful clusters</a:t>
            </a:r>
            <a:endParaRPr lang="en-US" sz="1300" dirty="0"/>
          </a:p>
          <a:p>
            <a:pPr marL="342900" indent="-342900">
              <a:lnSpc>
                <a:spcPts val="1900"/>
              </a:lnSpc>
              <a:spcAft>
                <a:spcPts val="900"/>
              </a:spcAft>
              <a:buSzPct val="100000"/>
              <a:buChar char="•"/>
            </a:pPr>
            <a:r>
              <a:rPr lang="en-US" sz="1300" dirty="0">
                <a:solidFill>
                  <a:srgbClr val="15294D"/>
                </a:solidFill>
                <a:latin typeface="Calibri" pitchFamily="34" charset="0"/>
                <a:ea typeface="Calibri" pitchFamily="34" charset="-122"/>
                <a:cs typeface="Calibri" pitchFamily="34" charset="-120"/>
              </a:rPr>
              <a:t>Detects arbitrary-shaped congestion zones with DBSCAN</a:t>
            </a:r>
            <a:endParaRPr lang="en-US" sz="1300" dirty="0"/>
          </a:p>
          <a:p>
            <a:pPr marL="342900" indent="-342900">
              <a:lnSpc>
                <a:spcPts val="1900"/>
              </a:lnSpc>
              <a:spcAft>
                <a:spcPts val="900"/>
              </a:spcAft>
              <a:buSzPct val="100000"/>
              <a:buChar char="•"/>
            </a:pPr>
            <a:r>
              <a:rPr lang="en-US" sz="1300" dirty="0">
                <a:solidFill>
                  <a:srgbClr val="15294D"/>
                </a:solidFill>
                <a:latin typeface="Calibri" pitchFamily="34" charset="0"/>
                <a:ea typeface="Calibri" pitchFamily="34" charset="-122"/>
                <a:cs typeface="Calibri" pitchFamily="34" charset="-120"/>
              </a:rPr>
              <a:t>Compares K-Means and DBSCAN outcomes</a:t>
            </a:r>
            <a:endParaRPr lang="en-US" sz="1300" dirty="0"/>
          </a:p>
          <a:p>
            <a:pPr marL="342900" indent="-342900">
              <a:lnSpc>
                <a:spcPts val="1900"/>
              </a:lnSpc>
              <a:spcAft>
                <a:spcPts val="900"/>
              </a:spcAft>
              <a:buSzPct val="100000"/>
              <a:buChar char="•"/>
            </a:pPr>
            <a:r>
              <a:rPr lang="en-US" sz="1300" dirty="0">
                <a:solidFill>
                  <a:srgbClr val="15294D"/>
                </a:solidFill>
                <a:latin typeface="Calibri" pitchFamily="34" charset="0"/>
                <a:ea typeface="Calibri" pitchFamily="34" charset="-122"/>
                <a:cs typeface="Calibri" pitchFamily="34" charset="-120"/>
              </a:rPr>
              <a:t>Identifies the better-suited approach for traffic data</a:t>
            </a:r>
            <a:endParaRPr lang="en-US" sz="1300" dirty="0"/>
          </a:p>
        </p:txBody>
      </p:sp>
      <p:sp>
        <p:nvSpPr>
          <p:cNvPr id="18" name="Text 12"/>
          <p:cNvSpPr/>
          <p:nvPr/>
        </p:nvSpPr>
        <p:spPr>
          <a:xfrm>
            <a:off x="10725912" y="6446520"/>
            <a:ext cx="1188720" cy="274320"/>
          </a:xfrm>
          <a:prstGeom prst="rect">
            <a:avLst/>
          </a:prstGeom>
          <a:noFill/>
          <a:ln/>
        </p:spPr>
        <p:txBody>
          <a:bodyPr wrap="square" rtlCol="0" anchor="ctr"/>
          <a:lstStyle/>
          <a:p>
            <a:pPr algn="r" indent="0" marL="0">
              <a:buNone/>
            </a:pPr>
            <a:r>
              <a:rPr lang="en-US" sz="1100" dirty="0">
                <a:solidFill>
                  <a:srgbClr val="5C7089"/>
                </a:solidFill>
                <a:latin typeface="Calibri" pitchFamily="34" charset="0"/>
                <a:ea typeface="Calibri" pitchFamily="34" charset="-122"/>
                <a:cs typeface="Calibri" pitchFamily="34" charset="-120"/>
              </a:rPr>
              <a:t>03 / 07</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640080" cy="640080"/>
          </a:xfrm>
          <a:prstGeom prst="ellipse">
            <a:avLst/>
          </a:prstGeom>
          <a:solidFill>
            <a:srgbClr val="2E6DA4"/>
          </a:solidFill>
          <a:ln/>
        </p:spPr>
      </p:sp>
      <p:pic>
        <p:nvPicPr>
          <p:cNvPr id="3" name="Image 0" descr="/home/claude/icons/target.png">    </p:cNvPr>
          <p:cNvPicPr>
            <a:picLocks noChangeAspect="1"/>
          </p:cNvPicPr>
          <p:nvPr/>
        </p:nvPicPr>
        <p:blipFill>
          <a:blip r:embed="rId1"/>
          <a:stretch>
            <a:fillRect/>
          </a:stretch>
        </p:blipFill>
        <p:spPr>
          <a:xfrm>
            <a:off x="638251" y="592531"/>
            <a:ext cx="460858" cy="460858"/>
          </a:xfrm>
          <a:prstGeom prst="rect">
            <a:avLst/>
          </a:prstGeom>
        </p:spPr>
      </p:pic>
      <p:sp>
        <p:nvSpPr>
          <p:cNvPr id="4" name="Text 1"/>
          <p:cNvSpPr/>
          <p:nvPr/>
        </p:nvSpPr>
        <p:spPr>
          <a:xfrm>
            <a:off x="1371600" y="457200"/>
            <a:ext cx="7315200" cy="320040"/>
          </a:xfrm>
          <a:prstGeom prst="rect">
            <a:avLst/>
          </a:prstGeom>
          <a:noFill/>
          <a:ln/>
        </p:spPr>
        <p:txBody>
          <a:bodyPr wrap="square" rtlCol="0" anchor="ctr"/>
          <a:lstStyle/>
          <a:p>
            <a:pPr indent="0" marL="0">
              <a:buNone/>
            </a:pPr>
            <a:r>
              <a:rPr lang="en-US" sz="1300" b="1" spc="200" kern="0" dirty="0">
                <a:solidFill>
                  <a:srgbClr val="2E6DA4"/>
                </a:solidFill>
                <a:latin typeface="Calibri" pitchFamily="34" charset="0"/>
                <a:ea typeface="Calibri" pitchFamily="34" charset="-122"/>
                <a:cs typeface="Calibri" pitchFamily="34" charset="-120"/>
              </a:rPr>
              <a:t>WHAT WE AIM TO ACHIEVE</a:t>
            </a:r>
            <a:endParaRPr lang="en-US" sz="1300" dirty="0"/>
          </a:p>
        </p:txBody>
      </p:sp>
      <p:sp>
        <p:nvSpPr>
          <p:cNvPr id="5" name="Text 2"/>
          <p:cNvSpPr/>
          <p:nvPr/>
        </p:nvSpPr>
        <p:spPr>
          <a:xfrm>
            <a:off x="1325880" y="713232"/>
            <a:ext cx="8229600" cy="640080"/>
          </a:xfrm>
          <a:prstGeom prst="rect">
            <a:avLst/>
          </a:prstGeom>
          <a:noFill/>
          <a:ln/>
        </p:spPr>
        <p:txBody>
          <a:bodyPr wrap="square" rtlCol="0" anchor="ctr"/>
          <a:lstStyle/>
          <a:p>
            <a:pPr indent="0" marL="0">
              <a:buNone/>
            </a:pPr>
            <a:r>
              <a:rPr lang="en-US" sz="3400" b="1" dirty="0">
                <a:solidFill>
                  <a:srgbClr val="15294D"/>
                </a:solidFill>
                <a:latin typeface="Georgia" pitchFamily="34" charset="0"/>
                <a:ea typeface="Georgia" pitchFamily="34" charset="-122"/>
                <a:cs typeface="Georgia" pitchFamily="34" charset="-120"/>
              </a:rPr>
              <a:t>Objectives</a:t>
            </a:r>
            <a:endParaRPr lang="en-US" sz="3400" dirty="0"/>
          </a:p>
        </p:txBody>
      </p:sp>
      <p:sp>
        <p:nvSpPr>
          <p:cNvPr id="6" name="Shape 3"/>
          <p:cNvSpPr/>
          <p:nvPr/>
        </p:nvSpPr>
        <p:spPr>
          <a:xfrm>
            <a:off x="685800" y="1783080"/>
            <a:ext cx="3429000" cy="1325880"/>
          </a:xfrm>
          <a:prstGeom prst="rect">
            <a:avLst>
              <a:gd name="adj" fmla="val 4138"/>
            </a:avLst>
          </a:prstGeom>
          <a:solidFill>
            <a:srgbClr val="E8EEF9"/>
          </a:solidFill>
          <a:ln/>
        </p:spPr>
      </p:sp>
      <p:sp>
        <p:nvSpPr>
          <p:cNvPr id="7" name="Shape 4"/>
          <p:cNvSpPr/>
          <p:nvPr/>
        </p:nvSpPr>
        <p:spPr>
          <a:xfrm>
            <a:off x="914400" y="2103120"/>
            <a:ext cx="685800" cy="685800"/>
          </a:xfrm>
          <a:prstGeom prst="ellipse">
            <a:avLst/>
          </a:prstGeom>
          <a:solidFill>
            <a:srgbClr val="0A2647"/>
          </a:solidFill>
          <a:ln/>
        </p:spPr>
      </p:sp>
      <p:pic>
        <p:nvPicPr>
          <p:cNvPr id="8" name="Image 1" descr="/home/claude/icons/database.png">    </p:cNvPr>
          <p:cNvPicPr>
            <a:picLocks noChangeAspect="1"/>
          </p:cNvPicPr>
          <p:nvPr/>
        </p:nvPicPr>
        <p:blipFill>
          <a:blip r:embed="rId2"/>
          <a:stretch>
            <a:fillRect/>
          </a:stretch>
        </p:blipFill>
        <p:spPr>
          <a:xfrm>
            <a:off x="1010412" y="2199132"/>
            <a:ext cx="493776" cy="493776"/>
          </a:xfrm>
          <a:prstGeom prst="rect">
            <a:avLst/>
          </a:prstGeom>
        </p:spPr>
      </p:pic>
      <p:sp>
        <p:nvSpPr>
          <p:cNvPr id="9" name="Text 5"/>
          <p:cNvSpPr/>
          <p:nvPr/>
        </p:nvSpPr>
        <p:spPr>
          <a:xfrm>
            <a:off x="1737360" y="1874520"/>
            <a:ext cx="2194560" cy="1143000"/>
          </a:xfrm>
          <a:prstGeom prst="rect">
            <a:avLst/>
          </a:prstGeom>
          <a:noFill/>
          <a:ln/>
        </p:spPr>
        <p:txBody>
          <a:bodyPr wrap="square" rtlCol="0" anchor="ctr"/>
          <a:lstStyle/>
          <a:p>
            <a:pPr indent="0" marL="0">
              <a:lnSpc>
                <a:spcPts val="1700"/>
              </a:lnSpc>
              <a:buNone/>
            </a:pPr>
            <a:r>
              <a:rPr lang="en-US" sz="1350" b="1" dirty="0">
                <a:solidFill>
                  <a:srgbClr val="15294D"/>
                </a:solidFill>
                <a:latin typeface="Calibri" pitchFamily="34" charset="0"/>
                <a:ea typeface="Calibri" pitchFamily="34" charset="-122"/>
                <a:cs typeface="Calibri" pitchFamily="34" charset="-120"/>
              </a:rPr>
              <a:t>Collect and preprocess traffic flow data</a:t>
            </a:r>
            <a:endParaRPr lang="en-US" sz="1350" dirty="0"/>
          </a:p>
        </p:txBody>
      </p:sp>
      <p:sp>
        <p:nvSpPr>
          <p:cNvPr id="10" name="Shape 6"/>
          <p:cNvSpPr/>
          <p:nvPr/>
        </p:nvSpPr>
        <p:spPr>
          <a:xfrm>
            <a:off x="4370832" y="1783080"/>
            <a:ext cx="3429000" cy="1325880"/>
          </a:xfrm>
          <a:prstGeom prst="rect">
            <a:avLst>
              <a:gd name="adj" fmla="val 4138"/>
            </a:avLst>
          </a:prstGeom>
          <a:solidFill>
            <a:srgbClr val="E8EEF9"/>
          </a:solidFill>
          <a:ln/>
        </p:spPr>
      </p:sp>
      <p:sp>
        <p:nvSpPr>
          <p:cNvPr id="11" name="Shape 7"/>
          <p:cNvSpPr/>
          <p:nvPr/>
        </p:nvSpPr>
        <p:spPr>
          <a:xfrm>
            <a:off x="4599432" y="2103120"/>
            <a:ext cx="685800" cy="685800"/>
          </a:xfrm>
          <a:prstGeom prst="ellipse">
            <a:avLst/>
          </a:prstGeom>
          <a:solidFill>
            <a:srgbClr val="2E6DA4"/>
          </a:solidFill>
          <a:ln/>
        </p:spPr>
      </p:sp>
      <p:pic>
        <p:nvPicPr>
          <p:cNvPr id="12" name="Image 2" descr="/home/claude/icons/clipboard.png">    </p:cNvPr>
          <p:cNvPicPr>
            <a:picLocks noChangeAspect="1"/>
          </p:cNvPicPr>
          <p:nvPr/>
        </p:nvPicPr>
        <p:blipFill>
          <a:blip r:embed="rId3"/>
          <a:stretch>
            <a:fillRect/>
          </a:stretch>
        </p:blipFill>
        <p:spPr>
          <a:xfrm>
            <a:off x="4695444" y="2199132"/>
            <a:ext cx="493776" cy="493776"/>
          </a:xfrm>
          <a:prstGeom prst="rect">
            <a:avLst/>
          </a:prstGeom>
        </p:spPr>
      </p:pic>
      <p:sp>
        <p:nvSpPr>
          <p:cNvPr id="13" name="Text 8"/>
          <p:cNvSpPr/>
          <p:nvPr/>
        </p:nvSpPr>
        <p:spPr>
          <a:xfrm>
            <a:off x="5422392" y="1874520"/>
            <a:ext cx="2194560" cy="1143000"/>
          </a:xfrm>
          <a:prstGeom prst="rect">
            <a:avLst/>
          </a:prstGeom>
          <a:noFill/>
          <a:ln/>
        </p:spPr>
        <p:txBody>
          <a:bodyPr wrap="square" rtlCol="0" anchor="ctr"/>
          <a:lstStyle/>
          <a:p>
            <a:pPr indent="0" marL="0">
              <a:lnSpc>
                <a:spcPts val="1700"/>
              </a:lnSpc>
              <a:buNone/>
            </a:pPr>
            <a:r>
              <a:rPr lang="en-US" sz="1350" b="1" dirty="0">
                <a:solidFill>
                  <a:srgbClr val="15294D"/>
                </a:solidFill>
                <a:latin typeface="Calibri" pitchFamily="34" charset="0"/>
                <a:ea typeface="Calibri" pitchFamily="34" charset="-122"/>
                <a:cs typeface="Calibri" pitchFamily="34" charset="-120"/>
              </a:rPr>
              <a:t>Identify key features affecting flow patterns</a:t>
            </a:r>
            <a:endParaRPr lang="en-US" sz="1350" dirty="0"/>
          </a:p>
        </p:txBody>
      </p:sp>
      <p:sp>
        <p:nvSpPr>
          <p:cNvPr id="14" name="Shape 9"/>
          <p:cNvSpPr/>
          <p:nvPr/>
        </p:nvSpPr>
        <p:spPr>
          <a:xfrm>
            <a:off x="8055864" y="1783080"/>
            <a:ext cx="3429000" cy="1325880"/>
          </a:xfrm>
          <a:prstGeom prst="rect">
            <a:avLst>
              <a:gd name="adj" fmla="val 4138"/>
            </a:avLst>
          </a:prstGeom>
          <a:solidFill>
            <a:srgbClr val="E8EEF9"/>
          </a:solidFill>
          <a:ln/>
        </p:spPr>
      </p:sp>
      <p:sp>
        <p:nvSpPr>
          <p:cNvPr id="15" name="Shape 10"/>
          <p:cNvSpPr/>
          <p:nvPr/>
        </p:nvSpPr>
        <p:spPr>
          <a:xfrm>
            <a:off x="8284464" y="2103120"/>
            <a:ext cx="685800" cy="685800"/>
          </a:xfrm>
          <a:prstGeom prst="ellipse">
            <a:avLst/>
          </a:prstGeom>
          <a:solidFill>
            <a:srgbClr val="0A2647"/>
          </a:solidFill>
          <a:ln/>
        </p:spPr>
      </p:sp>
      <p:pic>
        <p:nvPicPr>
          <p:cNvPr id="16" name="Image 3" descr="/home/claude/icons/cluster.png">    </p:cNvPr>
          <p:cNvPicPr>
            <a:picLocks noChangeAspect="1"/>
          </p:cNvPicPr>
          <p:nvPr/>
        </p:nvPicPr>
        <p:blipFill>
          <a:blip r:embed="rId4"/>
          <a:stretch>
            <a:fillRect/>
          </a:stretch>
        </p:blipFill>
        <p:spPr>
          <a:xfrm>
            <a:off x="8380476" y="2199132"/>
            <a:ext cx="493776" cy="493776"/>
          </a:xfrm>
          <a:prstGeom prst="rect">
            <a:avLst/>
          </a:prstGeom>
        </p:spPr>
      </p:pic>
      <p:sp>
        <p:nvSpPr>
          <p:cNvPr id="17" name="Text 11"/>
          <p:cNvSpPr/>
          <p:nvPr/>
        </p:nvSpPr>
        <p:spPr>
          <a:xfrm>
            <a:off x="9107424" y="1874520"/>
            <a:ext cx="2194560" cy="1143000"/>
          </a:xfrm>
          <a:prstGeom prst="rect">
            <a:avLst/>
          </a:prstGeom>
          <a:noFill/>
          <a:ln/>
        </p:spPr>
        <p:txBody>
          <a:bodyPr wrap="square" rtlCol="0" anchor="ctr"/>
          <a:lstStyle/>
          <a:p>
            <a:pPr indent="0" marL="0">
              <a:lnSpc>
                <a:spcPts val="1700"/>
              </a:lnSpc>
              <a:buNone/>
            </a:pPr>
            <a:r>
              <a:rPr lang="en-US" sz="1350" b="1" dirty="0">
                <a:solidFill>
                  <a:srgbClr val="15294D"/>
                </a:solidFill>
                <a:latin typeface="Calibri" pitchFamily="34" charset="0"/>
                <a:ea typeface="Calibri" pitchFamily="34" charset="-122"/>
                <a:cs typeface="Calibri" pitchFamily="34" charset="-120"/>
              </a:rPr>
              <a:t>Implement K-Means clustering</a:t>
            </a:r>
            <a:endParaRPr lang="en-US" sz="1350" dirty="0"/>
          </a:p>
        </p:txBody>
      </p:sp>
      <p:sp>
        <p:nvSpPr>
          <p:cNvPr id="18" name="Shape 12"/>
          <p:cNvSpPr/>
          <p:nvPr/>
        </p:nvSpPr>
        <p:spPr>
          <a:xfrm>
            <a:off x="685800" y="3364992"/>
            <a:ext cx="3429000" cy="1325880"/>
          </a:xfrm>
          <a:prstGeom prst="rect">
            <a:avLst>
              <a:gd name="adj" fmla="val 4138"/>
            </a:avLst>
          </a:prstGeom>
          <a:solidFill>
            <a:srgbClr val="E8EEF9"/>
          </a:solidFill>
          <a:ln/>
        </p:spPr>
      </p:sp>
      <p:sp>
        <p:nvSpPr>
          <p:cNvPr id="19" name="Shape 13"/>
          <p:cNvSpPr/>
          <p:nvPr/>
        </p:nvSpPr>
        <p:spPr>
          <a:xfrm>
            <a:off x="914400" y="3685032"/>
            <a:ext cx="685800" cy="685800"/>
          </a:xfrm>
          <a:prstGeom prst="ellipse">
            <a:avLst/>
          </a:prstGeom>
          <a:solidFill>
            <a:srgbClr val="2E6DA4"/>
          </a:solidFill>
          <a:ln/>
        </p:spPr>
      </p:sp>
      <p:pic>
        <p:nvPicPr>
          <p:cNvPr id="20" name="Image 4" descr="/home/claude/icons/branch.png">    </p:cNvPr>
          <p:cNvPicPr>
            <a:picLocks noChangeAspect="1"/>
          </p:cNvPicPr>
          <p:nvPr/>
        </p:nvPicPr>
        <p:blipFill>
          <a:blip r:embed="rId5"/>
          <a:stretch>
            <a:fillRect/>
          </a:stretch>
        </p:blipFill>
        <p:spPr>
          <a:xfrm>
            <a:off x="1010412" y="3781044"/>
            <a:ext cx="493776" cy="493776"/>
          </a:xfrm>
          <a:prstGeom prst="rect">
            <a:avLst/>
          </a:prstGeom>
        </p:spPr>
      </p:pic>
      <p:sp>
        <p:nvSpPr>
          <p:cNvPr id="21" name="Text 14"/>
          <p:cNvSpPr/>
          <p:nvPr/>
        </p:nvSpPr>
        <p:spPr>
          <a:xfrm>
            <a:off x="1737360" y="3456432"/>
            <a:ext cx="2194560" cy="1143000"/>
          </a:xfrm>
          <a:prstGeom prst="rect">
            <a:avLst/>
          </a:prstGeom>
          <a:noFill/>
          <a:ln/>
        </p:spPr>
        <p:txBody>
          <a:bodyPr wrap="square" rtlCol="0" anchor="ctr"/>
          <a:lstStyle/>
          <a:p>
            <a:pPr indent="0" marL="0">
              <a:lnSpc>
                <a:spcPts val="1700"/>
              </a:lnSpc>
              <a:buNone/>
            </a:pPr>
            <a:r>
              <a:rPr lang="en-US" sz="1350" b="1" dirty="0">
                <a:solidFill>
                  <a:srgbClr val="15294D"/>
                </a:solidFill>
                <a:latin typeface="Calibri" pitchFamily="34" charset="0"/>
                <a:ea typeface="Calibri" pitchFamily="34" charset="-122"/>
                <a:cs typeface="Calibri" pitchFamily="34" charset="-120"/>
              </a:rPr>
              <a:t>Implement DBSCAN clustering</a:t>
            </a:r>
            <a:endParaRPr lang="en-US" sz="1350" dirty="0"/>
          </a:p>
        </p:txBody>
      </p:sp>
      <p:sp>
        <p:nvSpPr>
          <p:cNvPr id="22" name="Shape 15"/>
          <p:cNvSpPr/>
          <p:nvPr/>
        </p:nvSpPr>
        <p:spPr>
          <a:xfrm>
            <a:off x="4370832" y="3364992"/>
            <a:ext cx="3429000" cy="1325880"/>
          </a:xfrm>
          <a:prstGeom prst="rect">
            <a:avLst>
              <a:gd name="adj" fmla="val 4138"/>
            </a:avLst>
          </a:prstGeom>
          <a:solidFill>
            <a:srgbClr val="E8EEF9"/>
          </a:solidFill>
          <a:ln/>
        </p:spPr>
      </p:sp>
      <p:sp>
        <p:nvSpPr>
          <p:cNvPr id="23" name="Shape 16"/>
          <p:cNvSpPr/>
          <p:nvPr/>
        </p:nvSpPr>
        <p:spPr>
          <a:xfrm>
            <a:off x="4599432" y="3685032"/>
            <a:ext cx="685800" cy="685800"/>
          </a:xfrm>
          <a:prstGeom prst="ellipse">
            <a:avLst/>
          </a:prstGeom>
          <a:solidFill>
            <a:srgbClr val="0A2647"/>
          </a:solidFill>
          <a:ln/>
        </p:spPr>
      </p:sp>
      <p:pic>
        <p:nvPicPr>
          <p:cNvPr id="24" name="Image 5" descr="/home/claude/icons/balance.png">    </p:cNvPr>
          <p:cNvPicPr>
            <a:picLocks noChangeAspect="1"/>
          </p:cNvPicPr>
          <p:nvPr/>
        </p:nvPicPr>
        <p:blipFill>
          <a:blip r:embed="rId6"/>
          <a:stretch>
            <a:fillRect/>
          </a:stretch>
        </p:blipFill>
        <p:spPr>
          <a:xfrm>
            <a:off x="4695444" y="3781044"/>
            <a:ext cx="493776" cy="493776"/>
          </a:xfrm>
          <a:prstGeom prst="rect">
            <a:avLst/>
          </a:prstGeom>
        </p:spPr>
      </p:pic>
      <p:sp>
        <p:nvSpPr>
          <p:cNvPr id="25" name="Text 17"/>
          <p:cNvSpPr/>
          <p:nvPr/>
        </p:nvSpPr>
        <p:spPr>
          <a:xfrm>
            <a:off x="5422392" y="3456432"/>
            <a:ext cx="2194560" cy="1143000"/>
          </a:xfrm>
          <a:prstGeom prst="rect">
            <a:avLst/>
          </a:prstGeom>
          <a:noFill/>
          <a:ln/>
        </p:spPr>
        <p:txBody>
          <a:bodyPr wrap="square" rtlCol="0" anchor="ctr"/>
          <a:lstStyle/>
          <a:p>
            <a:pPr indent="0" marL="0">
              <a:lnSpc>
                <a:spcPts val="1700"/>
              </a:lnSpc>
              <a:buNone/>
            </a:pPr>
            <a:r>
              <a:rPr lang="en-US" sz="1350" b="1" dirty="0">
                <a:solidFill>
                  <a:srgbClr val="15294D"/>
                </a:solidFill>
                <a:latin typeface="Calibri" pitchFamily="34" charset="0"/>
                <a:ea typeface="Calibri" pitchFamily="34" charset="-122"/>
                <a:cs typeface="Calibri" pitchFamily="34" charset="-120"/>
              </a:rPr>
              <a:t>Evaluate and compare both models</a:t>
            </a:r>
            <a:endParaRPr lang="en-US" sz="1350" dirty="0"/>
          </a:p>
        </p:txBody>
      </p:sp>
      <p:sp>
        <p:nvSpPr>
          <p:cNvPr id="26" name="Shape 18"/>
          <p:cNvSpPr/>
          <p:nvPr/>
        </p:nvSpPr>
        <p:spPr>
          <a:xfrm>
            <a:off x="8055864" y="3364992"/>
            <a:ext cx="3429000" cy="1325880"/>
          </a:xfrm>
          <a:prstGeom prst="rect">
            <a:avLst>
              <a:gd name="adj" fmla="val 4138"/>
            </a:avLst>
          </a:prstGeom>
          <a:solidFill>
            <a:srgbClr val="E8EEF9"/>
          </a:solidFill>
          <a:ln/>
        </p:spPr>
      </p:sp>
      <p:sp>
        <p:nvSpPr>
          <p:cNvPr id="27" name="Shape 19"/>
          <p:cNvSpPr/>
          <p:nvPr/>
        </p:nvSpPr>
        <p:spPr>
          <a:xfrm>
            <a:off x="8284464" y="3685032"/>
            <a:ext cx="685800" cy="685800"/>
          </a:xfrm>
          <a:prstGeom prst="ellipse">
            <a:avLst/>
          </a:prstGeom>
          <a:solidFill>
            <a:srgbClr val="2E6DA4"/>
          </a:solidFill>
          <a:ln/>
        </p:spPr>
      </p:sp>
      <p:pic>
        <p:nvPicPr>
          <p:cNvPr id="28" name="Image 6" descr="/home/claude/icons/warning.png">    </p:cNvPr>
          <p:cNvPicPr>
            <a:picLocks noChangeAspect="1"/>
          </p:cNvPicPr>
          <p:nvPr/>
        </p:nvPicPr>
        <p:blipFill>
          <a:blip r:embed="rId7"/>
          <a:stretch>
            <a:fillRect/>
          </a:stretch>
        </p:blipFill>
        <p:spPr>
          <a:xfrm>
            <a:off x="8380476" y="3781044"/>
            <a:ext cx="493776" cy="493776"/>
          </a:xfrm>
          <a:prstGeom prst="rect">
            <a:avLst/>
          </a:prstGeom>
        </p:spPr>
      </p:pic>
      <p:sp>
        <p:nvSpPr>
          <p:cNvPr id="29" name="Text 20"/>
          <p:cNvSpPr/>
          <p:nvPr/>
        </p:nvSpPr>
        <p:spPr>
          <a:xfrm>
            <a:off x="9107424" y="3456432"/>
            <a:ext cx="2194560" cy="1143000"/>
          </a:xfrm>
          <a:prstGeom prst="rect">
            <a:avLst/>
          </a:prstGeom>
          <a:noFill/>
          <a:ln/>
        </p:spPr>
        <p:txBody>
          <a:bodyPr wrap="square" rtlCol="0" anchor="ctr"/>
          <a:lstStyle/>
          <a:p>
            <a:pPr indent="0" marL="0">
              <a:lnSpc>
                <a:spcPts val="1700"/>
              </a:lnSpc>
              <a:buNone/>
            </a:pPr>
            <a:r>
              <a:rPr lang="en-US" sz="1350" b="1" dirty="0">
                <a:solidFill>
                  <a:srgbClr val="15294D"/>
                </a:solidFill>
                <a:latin typeface="Calibri" pitchFamily="34" charset="0"/>
                <a:ea typeface="Calibri" pitchFamily="34" charset="-122"/>
                <a:cs typeface="Calibri" pitchFamily="34" charset="-120"/>
              </a:rPr>
              <a:t>Detect congestion hotspots and outliers</a:t>
            </a:r>
            <a:endParaRPr lang="en-US" sz="1350" dirty="0"/>
          </a:p>
        </p:txBody>
      </p:sp>
      <p:sp>
        <p:nvSpPr>
          <p:cNvPr id="30" name="Shape 21"/>
          <p:cNvSpPr/>
          <p:nvPr/>
        </p:nvSpPr>
        <p:spPr>
          <a:xfrm>
            <a:off x="685800" y="4946904"/>
            <a:ext cx="3429000" cy="1325880"/>
          </a:xfrm>
          <a:prstGeom prst="rect">
            <a:avLst>
              <a:gd name="adj" fmla="val 4138"/>
            </a:avLst>
          </a:prstGeom>
          <a:solidFill>
            <a:srgbClr val="E8EEF9"/>
          </a:solidFill>
          <a:ln/>
        </p:spPr>
      </p:sp>
      <p:sp>
        <p:nvSpPr>
          <p:cNvPr id="31" name="Shape 22"/>
          <p:cNvSpPr/>
          <p:nvPr/>
        </p:nvSpPr>
        <p:spPr>
          <a:xfrm>
            <a:off x="914400" y="5266944"/>
            <a:ext cx="685800" cy="685800"/>
          </a:xfrm>
          <a:prstGeom prst="ellipse">
            <a:avLst/>
          </a:prstGeom>
          <a:solidFill>
            <a:srgbClr val="0A2647"/>
          </a:solidFill>
          <a:ln/>
        </p:spPr>
      </p:sp>
      <p:pic>
        <p:nvPicPr>
          <p:cNvPr id="32" name="Image 7" descr="/home/claude/icons/map.png">    </p:cNvPr>
          <p:cNvPicPr>
            <a:picLocks noChangeAspect="1"/>
          </p:cNvPicPr>
          <p:nvPr/>
        </p:nvPicPr>
        <p:blipFill>
          <a:blip r:embed="rId8"/>
          <a:stretch>
            <a:fillRect/>
          </a:stretch>
        </p:blipFill>
        <p:spPr>
          <a:xfrm>
            <a:off x="1010412" y="5362956"/>
            <a:ext cx="493776" cy="493776"/>
          </a:xfrm>
          <a:prstGeom prst="rect">
            <a:avLst/>
          </a:prstGeom>
        </p:spPr>
      </p:pic>
      <p:sp>
        <p:nvSpPr>
          <p:cNvPr id="33" name="Text 23"/>
          <p:cNvSpPr/>
          <p:nvPr/>
        </p:nvSpPr>
        <p:spPr>
          <a:xfrm>
            <a:off x="1737360" y="5038344"/>
            <a:ext cx="2194560" cy="1143000"/>
          </a:xfrm>
          <a:prstGeom prst="rect">
            <a:avLst/>
          </a:prstGeom>
          <a:noFill/>
          <a:ln/>
        </p:spPr>
        <p:txBody>
          <a:bodyPr wrap="square" rtlCol="0" anchor="ctr"/>
          <a:lstStyle/>
          <a:p>
            <a:pPr indent="0" marL="0">
              <a:lnSpc>
                <a:spcPts val="1700"/>
              </a:lnSpc>
              <a:buNone/>
            </a:pPr>
            <a:r>
              <a:rPr lang="en-US" sz="1350" b="1" dirty="0">
                <a:solidFill>
                  <a:srgbClr val="15294D"/>
                </a:solidFill>
                <a:latin typeface="Calibri" pitchFamily="34" charset="0"/>
                <a:ea typeface="Calibri" pitchFamily="34" charset="-122"/>
                <a:cs typeface="Calibri" pitchFamily="34" charset="-120"/>
              </a:rPr>
              <a:t>Visualize clusters on a traffic map</a:t>
            </a:r>
            <a:endParaRPr lang="en-US" sz="1350" dirty="0"/>
          </a:p>
        </p:txBody>
      </p:sp>
      <p:sp>
        <p:nvSpPr>
          <p:cNvPr id="34" name="Text 24"/>
          <p:cNvSpPr/>
          <p:nvPr/>
        </p:nvSpPr>
        <p:spPr>
          <a:xfrm>
            <a:off x="10725912" y="6446520"/>
            <a:ext cx="1188720" cy="274320"/>
          </a:xfrm>
          <a:prstGeom prst="rect">
            <a:avLst/>
          </a:prstGeom>
          <a:noFill/>
          <a:ln/>
        </p:spPr>
        <p:txBody>
          <a:bodyPr wrap="square" rtlCol="0" anchor="ctr"/>
          <a:lstStyle/>
          <a:p>
            <a:pPr algn="r" indent="0" marL="0">
              <a:buNone/>
            </a:pPr>
            <a:r>
              <a:rPr lang="en-US" sz="1100" dirty="0">
                <a:solidFill>
                  <a:srgbClr val="5C7089"/>
                </a:solidFill>
                <a:latin typeface="Calibri" pitchFamily="34" charset="0"/>
                <a:ea typeface="Calibri" pitchFamily="34" charset="-122"/>
                <a:cs typeface="Calibri" pitchFamily="34" charset="-120"/>
              </a:rPr>
              <a:t>04 / 07</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640080" cy="640080"/>
          </a:xfrm>
          <a:prstGeom prst="ellipse">
            <a:avLst/>
          </a:prstGeom>
          <a:solidFill>
            <a:srgbClr val="2E6DA4"/>
          </a:solidFill>
          <a:ln/>
        </p:spPr>
      </p:sp>
      <p:pic>
        <p:nvPicPr>
          <p:cNvPr id="3" name="Image 0" descr="/home/claude/icons/laptop.png">    </p:cNvPr>
          <p:cNvPicPr>
            <a:picLocks noChangeAspect="1"/>
          </p:cNvPicPr>
          <p:nvPr/>
        </p:nvPicPr>
        <p:blipFill>
          <a:blip r:embed="rId1"/>
          <a:stretch>
            <a:fillRect/>
          </a:stretch>
        </p:blipFill>
        <p:spPr>
          <a:xfrm>
            <a:off x="638251" y="592531"/>
            <a:ext cx="460858" cy="460858"/>
          </a:xfrm>
          <a:prstGeom prst="rect">
            <a:avLst/>
          </a:prstGeom>
        </p:spPr>
      </p:pic>
      <p:sp>
        <p:nvSpPr>
          <p:cNvPr id="4" name="Text 1"/>
          <p:cNvSpPr/>
          <p:nvPr/>
        </p:nvSpPr>
        <p:spPr>
          <a:xfrm>
            <a:off x="1371600" y="457200"/>
            <a:ext cx="7315200" cy="320040"/>
          </a:xfrm>
          <a:prstGeom prst="rect">
            <a:avLst/>
          </a:prstGeom>
          <a:noFill/>
          <a:ln/>
        </p:spPr>
        <p:txBody>
          <a:bodyPr wrap="square" rtlCol="0" anchor="ctr"/>
          <a:lstStyle/>
          <a:p>
            <a:pPr indent="0" marL="0">
              <a:buNone/>
            </a:pPr>
            <a:r>
              <a:rPr lang="en-US" sz="1300" b="1" spc="200" kern="0" dirty="0">
                <a:solidFill>
                  <a:srgbClr val="2E6DA4"/>
                </a:solidFill>
                <a:latin typeface="Calibri" pitchFamily="34" charset="0"/>
                <a:ea typeface="Calibri" pitchFamily="34" charset="-122"/>
                <a:cs typeface="Calibri" pitchFamily="34" charset="-120"/>
              </a:rPr>
              <a:t>WHAT WE NEED TO BUILD THIS</a:t>
            </a:r>
            <a:endParaRPr lang="en-US" sz="1300" dirty="0"/>
          </a:p>
        </p:txBody>
      </p:sp>
      <p:sp>
        <p:nvSpPr>
          <p:cNvPr id="5" name="Text 2"/>
          <p:cNvSpPr/>
          <p:nvPr/>
        </p:nvSpPr>
        <p:spPr>
          <a:xfrm>
            <a:off x="1325880" y="713232"/>
            <a:ext cx="8229600" cy="640080"/>
          </a:xfrm>
          <a:prstGeom prst="rect">
            <a:avLst/>
          </a:prstGeom>
          <a:noFill/>
          <a:ln/>
        </p:spPr>
        <p:txBody>
          <a:bodyPr wrap="square" rtlCol="0" anchor="ctr"/>
          <a:lstStyle/>
          <a:p>
            <a:pPr indent="0" marL="0">
              <a:buNone/>
            </a:pPr>
            <a:r>
              <a:rPr lang="en-US" sz="3400" b="1" dirty="0">
                <a:solidFill>
                  <a:srgbClr val="15294D"/>
                </a:solidFill>
                <a:latin typeface="Georgia" pitchFamily="34" charset="0"/>
                <a:ea typeface="Georgia" pitchFamily="34" charset="-122"/>
                <a:cs typeface="Georgia" pitchFamily="34" charset="-120"/>
              </a:rPr>
              <a:t>Software Requirements</a:t>
            </a:r>
            <a:endParaRPr lang="en-US" sz="3400" dirty="0"/>
          </a:p>
        </p:txBody>
      </p:sp>
      <p:sp>
        <p:nvSpPr>
          <p:cNvPr id="6" name="Shape 3"/>
          <p:cNvSpPr/>
          <p:nvPr/>
        </p:nvSpPr>
        <p:spPr>
          <a:xfrm>
            <a:off x="4023360" y="1874520"/>
            <a:ext cx="4114800" cy="4206240"/>
          </a:xfrm>
          <a:prstGeom prst="rect">
            <a:avLst>
              <a:gd name="adj" fmla="val 1333"/>
            </a:avLst>
          </a:prstGeom>
          <a:solidFill>
            <a:srgbClr val="0A2647"/>
          </a:solidFill>
          <a:ln/>
        </p:spPr>
      </p:sp>
      <p:sp>
        <p:nvSpPr>
          <p:cNvPr id="7" name="Shape 4"/>
          <p:cNvSpPr/>
          <p:nvPr/>
        </p:nvSpPr>
        <p:spPr>
          <a:xfrm>
            <a:off x="4343400" y="2148840"/>
            <a:ext cx="594360" cy="594360"/>
          </a:xfrm>
          <a:prstGeom prst="ellipse">
            <a:avLst/>
          </a:prstGeom>
          <a:solidFill>
            <a:srgbClr val="2E6DA4"/>
          </a:solidFill>
          <a:ln/>
        </p:spPr>
      </p:sp>
      <p:pic>
        <p:nvPicPr>
          <p:cNvPr id="8" name="Image 1" descr="/home/claude/icons/python.png">    </p:cNvPr>
          <p:cNvPicPr>
            <a:picLocks noChangeAspect="1"/>
          </p:cNvPicPr>
          <p:nvPr/>
        </p:nvPicPr>
        <p:blipFill>
          <a:blip r:embed="rId2"/>
          <a:stretch>
            <a:fillRect/>
          </a:stretch>
        </p:blipFill>
        <p:spPr>
          <a:xfrm>
            <a:off x="4426610" y="2232050"/>
            <a:ext cx="427939" cy="427939"/>
          </a:xfrm>
          <a:prstGeom prst="rect">
            <a:avLst/>
          </a:prstGeom>
        </p:spPr>
      </p:pic>
      <p:sp>
        <p:nvSpPr>
          <p:cNvPr id="9" name="Text 5"/>
          <p:cNvSpPr/>
          <p:nvPr/>
        </p:nvSpPr>
        <p:spPr>
          <a:xfrm>
            <a:off x="5120640" y="2267712"/>
            <a:ext cx="2743200" cy="365760"/>
          </a:xfrm>
          <a:prstGeom prst="rect">
            <a:avLst/>
          </a:prstGeom>
          <a:noFill/>
          <a:ln/>
        </p:spPr>
        <p:txBody>
          <a:bodyPr wrap="square"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SOFTWARE</a:t>
            </a:r>
            <a:endParaRPr lang="en-US" sz="1700" dirty="0"/>
          </a:p>
        </p:txBody>
      </p:sp>
      <p:sp>
        <p:nvSpPr>
          <p:cNvPr id="10" name="Text 6"/>
          <p:cNvSpPr/>
          <p:nvPr/>
        </p:nvSpPr>
        <p:spPr>
          <a:xfrm>
            <a:off x="4343400" y="2880360"/>
            <a:ext cx="3520440" cy="3017520"/>
          </a:xfrm>
          <a:prstGeom prst="rect">
            <a:avLst/>
          </a:prstGeom>
          <a:noFill/>
          <a:ln/>
        </p:spPr>
        <p:txBody>
          <a:bodyPr wrap="square" rtlCol="0" anchor="ctr"/>
          <a:lstStyle/>
          <a:p>
            <a:pPr marL="342900" indent="-342900">
              <a:lnSpc>
                <a:spcPts val="2600"/>
              </a:lnSpc>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Python</a:t>
            </a:r>
            <a:endParaRPr lang="en-US" sz="1400" dirty="0"/>
          </a:p>
          <a:p>
            <a:pPr marL="342900" indent="-342900">
              <a:lnSpc>
                <a:spcPts val="2600"/>
              </a:lnSpc>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Google Colab / Jupyter Notebook</a:t>
            </a:r>
            <a:endParaRPr lang="en-US" sz="1400" dirty="0"/>
          </a:p>
          <a:p>
            <a:pPr marL="342900" indent="-342900">
              <a:lnSpc>
                <a:spcPts val="2600"/>
              </a:lnSpc>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Pandas &amp; NumPy</a:t>
            </a:r>
            <a:endParaRPr lang="en-US" sz="1400" dirty="0"/>
          </a:p>
          <a:p>
            <a:pPr marL="342900" indent="-342900">
              <a:lnSpc>
                <a:spcPts val="2600"/>
              </a:lnSpc>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Scikit-learn</a:t>
            </a:r>
            <a:endParaRPr lang="en-US" sz="1400" dirty="0"/>
          </a:p>
          <a:p>
            <a:pPr marL="342900" indent="-342900">
              <a:lnSpc>
                <a:spcPts val="2600"/>
              </a:lnSpc>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Matplotlib &amp; Seaborn</a:t>
            </a:r>
            <a:endParaRPr lang="en-US" sz="1400" dirty="0"/>
          </a:p>
          <a:p>
            <a:pPr marL="342900" indent="-342900">
              <a:lnSpc>
                <a:spcPts val="2600"/>
              </a:lnSpc>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Folium / GeoPandas (map visualization)</a:t>
            </a:r>
            <a:endParaRPr lang="en-US" sz="1400" dirty="0"/>
          </a:p>
        </p:txBody>
      </p:sp>
      <p:sp>
        <p:nvSpPr>
          <p:cNvPr id="11" name="Text 7"/>
          <p:cNvSpPr/>
          <p:nvPr/>
        </p:nvSpPr>
        <p:spPr>
          <a:xfrm>
            <a:off x="10725912" y="6446520"/>
            <a:ext cx="1188720" cy="274320"/>
          </a:xfrm>
          <a:prstGeom prst="rect">
            <a:avLst/>
          </a:prstGeom>
          <a:noFill/>
          <a:ln/>
        </p:spPr>
        <p:txBody>
          <a:bodyPr wrap="square" rtlCol="0" anchor="ctr"/>
          <a:lstStyle/>
          <a:p>
            <a:pPr algn="r" indent="0" marL="0">
              <a:buNone/>
            </a:pPr>
            <a:r>
              <a:rPr lang="en-US" sz="1100" dirty="0">
                <a:solidFill>
                  <a:srgbClr val="5C7089"/>
                </a:solidFill>
                <a:latin typeface="Calibri" pitchFamily="34" charset="0"/>
                <a:ea typeface="Calibri" pitchFamily="34" charset="-122"/>
                <a:cs typeface="Calibri" pitchFamily="34" charset="-120"/>
              </a:rPr>
              <a:t>05 / 07</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2647"/>
        </a:solidFill>
      </p:bgPr>
    </p:bg>
    <p:spTree>
      <p:nvGrpSpPr>
        <p:cNvPr id="1" name=""/>
        <p:cNvGrpSpPr/>
        <p:nvPr/>
      </p:nvGrpSpPr>
      <p:grpSpPr>
        <a:xfrm>
          <a:off x="0" y="0"/>
          <a:ext cx="0" cy="0"/>
          <a:chOff x="0" y="0"/>
          <a:chExt cx="0" cy="0"/>
        </a:xfrm>
      </p:grpSpPr>
      <p:sp>
        <p:nvSpPr>
          <p:cNvPr id="2" name="Shape 0"/>
          <p:cNvSpPr/>
          <p:nvPr/>
        </p:nvSpPr>
        <p:spPr>
          <a:xfrm>
            <a:off x="10607040" y="-1097280"/>
            <a:ext cx="2926080" cy="2926080"/>
          </a:xfrm>
          <a:prstGeom prst="ellipse">
            <a:avLst/>
          </a:prstGeom>
          <a:solidFill>
            <a:srgbClr val="081D38"/>
          </a:solidFill>
          <a:ln/>
        </p:spPr>
      </p:sp>
      <p:sp>
        <p:nvSpPr>
          <p:cNvPr id="3" name="Shape 1"/>
          <p:cNvSpPr/>
          <p:nvPr/>
        </p:nvSpPr>
        <p:spPr>
          <a:xfrm>
            <a:off x="640080" y="548640"/>
            <a:ext cx="594360" cy="594360"/>
          </a:xfrm>
          <a:prstGeom prst="ellipse">
            <a:avLst/>
          </a:prstGeom>
          <a:solidFill>
            <a:srgbClr val="2E6DA4"/>
          </a:solidFill>
          <a:ln/>
        </p:spPr>
      </p:sp>
      <p:pic>
        <p:nvPicPr>
          <p:cNvPr id="4" name="Image 0" descr="/home/claude/icons/checksimple.png">    </p:cNvPr>
          <p:cNvPicPr>
            <a:picLocks noChangeAspect="1"/>
          </p:cNvPicPr>
          <p:nvPr/>
        </p:nvPicPr>
        <p:blipFill>
          <a:blip r:embed="rId1"/>
          <a:stretch>
            <a:fillRect/>
          </a:stretch>
        </p:blipFill>
        <p:spPr>
          <a:xfrm>
            <a:off x="723290" y="631850"/>
            <a:ext cx="427939" cy="427939"/>
          </a:xfrm>
          <a:prstGeom prst="rect">
            <a:avLst/>
          </a:prstGeom>
        </p:spPr>
      </p:pic>
      <p:sp>
        <p:nvSpPr>
          <p:cNvPr id="5" name="Text 2"/>
          <p:cNvSpPr/>
          <p:nvPr/>
        </p:nvSpPr>
        <p:spPr>
          <a:xfrm>
            <a:off x="1417320" y="566928"/>
            <a:ext cx="54864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Conclusion</a:t>
            </a:r>
            <a:endParaRPr lang="en-US" sz="2800" dirty="0"/>
          </a:p>
        </p:txBody>
      </p:sp>
      <p:sp>
        <p:nvSpPr>
          <p:cNvPr id="6" name="Text 3"/>
          <p:cNvSpPr/>
          <p:nvPr/>
        </p:nvSpPr>
        <p:spPr>
          <a:xfrm>
            <a:off x="685800" y="1463040"/>
            <a:ext cx="6949440" cy="3200400"/>
          </a:xfrm>
          <a:prstGeom prst="rect">
            <a:avLst/>
          </a:prstGeom>
          <a:noFill/>
          <a:ln/>
        </p:spPr>
        <p:txBody>
          <a:bodyPr wrap="square" rtlCol="0" anchor="ctr"/>
          <a:lstStyle/>
          <a:p>
            <a:pPr marL="342900" indent="-342900">
              <a:lnSpc>
                <a:spcPts val="2600"/>
              </a:lnSpc>
              <a:spcAft>
                <a:spcPts val="1000"/>
              </a:spcAft>
              <a:buSzPct val="100000"/>
              <a:buChar char="•"/>
            </a:pPr>
            <a:r>
              <a:rPr lang="en-US" sz="1450" dirty="0">
                <a:solidFill>
                  <a:srgbClr val="FFFFFF"/>
                </a:solidFill>
                <a:latin typeface="Calibri" pitchFamily="34" charset="0"/>
                <a:ea typeface="Calibri" pitchFamily="34" charset="-122"/>
                <a:cs typeface="Calibri" pitchFamily="34" charset="-120"/>
              </a:rPr>
              <a:t>Clustering can effectively reveal hidden traffic flow patterns</a:t>
            </a:r>
            <a:endParaRPr lang="en-US" sz="1450" dirty="0"/>
          </a:p>
          <a:p>
            <a:pPr marL="342900" indent="-342900">
              <a:lnSpc>
                <a:spcPts val="2600"/>
              </a:lnSpc>
              <a:spcAft>
                <a:spcPts val="1000"/>
              </a:spcAft>
              <a:buSzPct val="100000"/>
              <a:buChar char="•"/>
            </a:pPr>
            <a:r>
              <a:rPr lang="en-US" sz="1450" dirty="0">
                <a:solidFill>
                  <a:srgbClr val="FFFFFF"/>
                </a:solidFill>
                <a:latin typeface="Calibri" pitchFamily="34" charset="0"/>
                <a:ea typeface="Calibri" pitchFamily="34" charset="-122"/>
                <a:cs typeface="Calibri" pitchFamily="34" charset="-120"/>
              </a:rPr>
              <a:t>K-Means offers a simple, efficient partitioning approach</a:t>
            </a:r>
            <a:endParaRPr lang="en-US" sz="1450" dirty="0"/>
          </a:p>
          <a:p>
            <a:pPr marL="342900" indent="-342900">
              <a:lnSpc>
                <a:spcPts val="2600"/>
              </a:lnSpc>
              <a:spcAft>
                <a:spcPts val="1000"/>
              </a:spcAft>
              <a:buSzPct val="100000"/>
              <a:buChar char="•"/>
            </a:pPr>
            <a:r>
              <a:rPr lang="en-US" sz="1450" dirty="0">
                <a:solidFill>
                  <a:srgbClr val="FFFFFF"/>
                </a:solidFill>
                <a:latin typeface="Calibri" pitchFamily="34" charset="0"/>
                <a:ea typeface="Calibri" pitchFamily="34" charset="-122"/>
                <a:cs typeface="Calibri" pitchFamily="34" charset="-120"/>
              </a:rPr>
              <a:t>DBSCAN captures irregular-shaped clusters and detects noise</a:t>
            </a:r>
            <a:endParaRPr lang="en-US" sz="1450" dirty="0"/>
          </a:p>
          <a:p>
            <a:pPr marL="342900" indent="-342900">
              <a:lnSpc>
                <a:spcPts val="2600"/>
              </a:lnSpc>
              <a:spcAft>
                <a:spcPts val="1000"/>
              </a:spcAft>
              <a:buSzPct val="100000"/>
              <a:buChar char="•"/>
            </a:pPr>
            <a:r>
              <a:rPr lang="en-US" sz="1450" dirty="0">
                <a:solidFill>
                  <a:srgbClr val="FFFFFF"/>
                </a:solidFill>
                <a:latin typeface="Calibri" pitchFamily="34" charset="0"/>
                <a:ea typeface="Calibri" pitchFamily="34" charset="-122"/>
                <a:cs typeface="Calibri" pitchFamily="34" charset="-120"/>
              </a:rPr>
              <a:t>Density-based methods suit congestion hotspot detection well</a:t>
            </a:r>
            <a:endParaRPr lang="en-US" sz="1450" dirty="0"/>
          </a:p>
          <a:p>
            <a:pPr marL="342900" indent="-342900">
              <a:lnSpc>
                <a:spcPts val="2600"/>
              </a:lnSpc>
              <a:spcAft>
                <a:spcPts val="1000"/>
              </a:spcAft>
              <a:buSzPct val="100000"/>
              <a:buChar char="•"/>
            </a:pPr>
            <a:r>
              <a:rPr lang="en-US" sz="1450" dirty="0">
                <a:solidFill>
                  <a:srgbClr val="FFFFFF"/>
                </a:solidFill>
                <a:latin typeface="Calibri" pitchFamily="34" charset="0"/>
                <a:ea typeface="Calibri" pitchFamily="34" charset="-122"/>
                <a:cs typeface="Calibri" pitchFamily="34" charset="-120"/>
              </a:rPr>
              <a:t>Comparing both models identifies the more suitable technique</a:t>
            </a:r>
            <a:endParaRPr lang="en-US" sz="1450" dirty="0"/>
          </a:p>
          <a:p>
            <a:pPr marL="342900" indent="-342900">
              <a:lnSpc>
                <a:spcPts val="2600"/>
              </a:lnSpc>
              <a:spcAft>
                <a:spcPts val="1000"/>
              </a:spcAft>
              <a:buSzPct val="100000"/>
              <a:buChar char="•"/>
            </a:pPr>
            <a:r>
              <a:rPr lang="en-US" sz="1450" dirty="0">
                <a:solidFill>
                  <a:srgbClr val="FFFFFF"/>
                </a:solidFill>
                <a:latin typeface="Calibri" pitchFamily="34" charset="0"/>
                <a:ea typeface="Calibri" pitchFamily="34" charset="-122"/>
                <a:cs typeface="Calibri" pitchFamily="34" charset="-120"/>
              </a:rPr>
              <a:t>Demonstrates practical use of unsupervised ML in smart transportation</a:t>
            </a:r>
            <a:endParaRPr lang="en-US" sz="1450" dirty="0"/>
          </a:p>
        </p:txBody>
      </p:sp>
      <p:sp>
        <p:nvSpPr>
          <p:cNvPr id="7" name="Text 4"/>
          <p:cNvSpPr/>
          <p:nvPr/>
        </p:nvSpPr>
        <p:spPr>
          <a:xfrm>
            <a:off x="685800" y="4892040"/>
            <a:ext cx="3657600" cy="320040"/>
          </a:xfrm>
          <a:prstGeom prst="rect">
            <a:avLst/>
          </a:prstGeom>
          <a:noFill/>
          <a:ln/>
        </p:spPr>
        <p:txBody>
          <a:bodyPr wrap="square" rtlCol="0" anchor="ctr"/>
          <a:lstStyle/>
          <a:p>
            <a:pPr indent="0" marL="0">
              <a:buNone/>
            </a:pPr>
            <a:r>
              <a:rPr lang="en-US" sz="1200" b="1" spc="150" kern="0" dirty="0">
                <a:solidFill>
                  <a:srgbClr val="8FA7C4"/>
                </a:solidFill>
                <a:latin typeface="Calibri" pitchFamily="34" charset="0"/>
                <a:ea typeface="Calibri" pitchFamily="34" charset="-122"/>
                <a:cs typeface="Calibri" pitchFamily="34" charset="-120"/>
              </a:rPr>
              <a:t>PROJECT WORKFLOW</a:t>
            </a:r>
            <a:endParaRPr lang="en-US" sz="1200" dirty="0"/>
          </a:p>
        </p:txBody>
      </p:sp>
      <p:sp>
        <p:nvSpPr>
          <p:cNvPr id="8" name="Shape 5"/>
          <p:cNvSpPr/>
          <p:nvPr/>
        </p:nvSpPr>
        <p:spPr>
          <a:xfrm>
            <a:off x="685800" y="5349240"/>
            <a:ext cx="777240" cy="777240"/>
          </a:xfrm>
          <a:prstGeom prst="ellipse">
            <a:avLst/>
          </a:prstGeom>
          <a:solidFill>
            <a:srgbClr val="0F3560"/>
          </a:solidFill>
          <a:ln/>
        </p:spPr>
      </p:sp>
      <p:pic>
        <p:nvPicPr>
          <p:cNvPr id="9" name="Image 1" descr="/home/claude/icons/database.png">    </p:cNvPr>
          <p:cNvPicPr>
            <a:picLocks noChangeAspect="1"/>
          </p:cNvPicPr>
          <p:nvPr/>
        </p:nvPicPr>
        <p:blipFill>
          <a:blip r:embed="rId2"/>
          <a:stretch>
            <a:fillRect/>
          </a:stretch>
        </p:blipFill>
        <p:spPr>
          <a:xfrm>
            <a:off x="794614" y="5458054"/>
            <a:ext cx="559613" cy="559613"/>
          </a:xfrm>
          <a:prstGeom prst="rect">
            <a:avLst/>
          </a:prstGeom>
        </p:spPr>
      </p:pic>
      <p:sp>
        <p:nvSpPr>
          <p:cNvPr id="10" name="Text 6"/>
          <p:cNvSpPr/>
          <p:nvPr/>
        </p:nvSpPr>
        <p:spPr>
          <a:xfrm>
            <a:off x="411480" y="6190488"/>
            <a:ext cx="1463040" cy="274320"/>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Data</a:t>
            </a:r>
            <a:endParaRPr lang="en-US" sz="1150" dirty="0"/>
          </a:p>
        </p:txBody>
      </p:sp>
      <p:pic>
        <p:nvPicPr>
          <p:cNvPr id="11" name="Image 2" descr="/home/claude/icons/trend.png">    </p:cNvPr>
          <p:cNvPicPr>
            <a:picLocks noChangeAspect="1"/>
          </p:cNvPicPr>
          <p:nvPr/>
        </p:nvPicPr>
        <p:blipFill>
          <a:blip r:embed="rId3"/>
          <a:stretch>
            <a:fillRect/>
          </a:stretch>
        </p:blipFill>
        <p:spPr>
          <a:xfrm>
            <a:off x="1600200" y="5577840"/>
            <a:ext cx="365760" cy="365760"/>
          </a:xfrm>
          <a:prstGeom prst="rect">
            <a:avLst/>
          </a:prstGeom>
        </p:spPr>
      </p:pic>
      <p:sp>
        <p:nvSpPr>
          <p:cNvPr id="12" name="Shape 7"/>
          <p:cNvSpPr/>
          <p:nvPr/>
        </p:nvSpPr>
        <p:spPr>
          <a:xfrm>
            <a:off x="2697480" y="5349240"/>
            <a:ext cx="777240" cy="777240"/>
          </a:xfrm>
          <a:prstGeom prst="ellipse">
            <a:avLst/>
          </a:prstGeom>
          <a:solidFill>
            <a:srgbClr val="0F3560"/>
          </a:solidFill>
          <a:ln/>
        </p:spPr>
      </p:sp>
      <p:pic>
        <p:nvPicPr>
          <p:cNvPr id="13" name="Image 3" descr="/home/claude/icons/cogs.png">    </p:cNvPr>
          <p:cNvPicPr>
            <a:picLocks noChangeAspect="1"/>
          </p:cNvPicPr>
          <p:nvPr/>
        </p:nvPicPr>
        <p:blipFill>
          <a:blip r:embed="rId4"/>
          <a:stretch>
            <a:fillRect/>
          </a:stretch>
        </p:blipFill>
        <p:spPr>
          <a:xfrm>
            <a:off x="2806294" y="5458054"/>
            <a:ext cx="559613" cy="559613"/>
          </a:xfrm>
          <a:prstGeom prst="rect">
            <a:avLst/>
          </a:prstGeom>
        </p:spPr>
      </p:pic>
      <p:sp>
        <p:nvSpPr>
          <p:cNvPr id="14" name="Text 8"/>
          <p:cNvSpPr/>
          <p:nvPr/>
        </p:nvSpPr>
        <p:spPr>
          <a:xfrm>
            <a:off x="2423160" y="6190488"/>
            <a:ext cx="1463040" cy="274320"/>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Preprocessing</a:t>
            </a:r>
            <a:endParaRPr lang="en-US" sz="1150" dirty="0"/>
          </a:p>
        </p:txBody>
      </p:sp>
      <p:pic>
        <p:nvPicPr>
          <p:cNvPr id="15" name="Image 4" descr="/home/claude/icons/trend.png">    </p:cNvPr>
          <p:cNvPicPr>
            <a:picLocks noChangeAspect="1"/>
          </p:cNvPicPr>
          <p:nvPr/>
        </p:nvPicPr>
        <p:blipFill>
          <a:blip r:embed="rId5"/>
          <a:stretch>
            <a:fillRect/>
          </a:stretch>
        </p:blipFill>
        <p:spPr>
          <a:xfrm>
            <a:off x="3611880" y="5577840"/>
            <a:ext cx="365760" cy="365760"/>
          </a:xfrm>
          <a:prstGeom prst="rect">
            <a:avLst/>
          </a:prstGeom>
        </p:spPr>
      </p:pic>
      <p:sp>
        <p:nvSpPr>
          <p:cNvPr id="16" name="Shape 9"/>
          <p:cNvSpPr/>
          <p:nvPr/>
        </p:nvSpPr>
        <p:spPr>
          <a:xfrm>
            <a:off x="4709160" y="5349240"/>
            <a:ext cx="777240" cy="777240"/>
          </a:xfrm>
          <a:prstGeom prst="ellipse">
            <a:avLst/>
          </a:prstGeom>
          <a:solidFill>
            <a:srgbClr val="0F3560"/>
          </a:solidFill>
          <a:ln/>
        </p:spPr>
      </p:sp>
      <p:pic>
        <p:nvPicPr>
          <p:cNvPr id="17" name="Image 5" descr="/home/claude/icons/cluster.png">    </p:cNvPr>
          <p:cNvPicPr>
            <a:picLocks noChangeAspect="1"/>
          </p:cNvPicPr>
          <p:nvPr/>
        </p:nvPicPr>
        <p:blipFill>
          <a:blip r:embed="rId6"/>
          <a:stretch>
            <a:fillRect/>
          </a:stretch>
        </p:blipFill>
        <p:spPr>
          <a:xfrm>
            <a:off x="4817974" y="5458054"/>
            <a:ext cx="559613" cy="559613"/>
          </a:xfrm>
          <a:prstGeom prst="rect">
            <a:avLst/>
          </a:prstGeom>
        </p:spPr>
      </p:pic>
      <p:sp>
        <p:nvSpPr>
          <p:cNvPr id="18" name="Text 10"/>
          <p:cNvSpPr/>
          <p:nvPr/>
        </p:nvSpPr>
        <p:spPr>
          <a:xfrm>
            <a:off x="4434840" y="6190488"/>
            <a:ext cx="1463040" cy="274320"/>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Clustering</a:t>
            </a:r>
            <a:endParaRPr lang="en-US" sz="1150" dirty="0"/>
          </a:p>
        </p:txBody>
      </p:sp>
      <p:pic>
        <p:nvPicPr>
          <p:cNvPr id="19" name="Image 6" descr="/home/claude/icons/trend.png">    </p:cNvPr>
          <p:cNvPicPr>
            <a:picLocks noChangeAspect="1"/>
          </p:cNvPicPr>
          <p:nvPr/>
        </p:nvPicPr>
        <p:blipFill>
          <a:blip r:embed="rId7"/>
          <a:stretch>
            <a:fillRect/>
          </a:stretch>
        </p:blipFill>
        <p:spPr>
          <a:xfrm>
            <a:off x="5623560" y="5577840"/>
            <a:ext cx="365760" cy="365760"/>
          </a:xfrm>
          <a:prstGeom prst="rect">
            <a:avLst/>
          </a:prstGeom>
        </p:spPr>
      </p:pic>
      <p:sp>
        <p:nvSpPr>
          <p:cNvPr id="20" name="Shape 11"/>
          <p:cNvSpPr/>
          <p:nvPr/>
        </p:nvSpPr>
        <p:spPr>
          <a:xfrm>
            <a:off x="6720840" y="5349240"/>
            <a:ext cx="777240" cy="777240"/>
          </a:xfrm>
          <a:prstGeom prst="ellipse">
            <a:avLst/>
          </a:prstGeom>
          <a:solidFill>
            <a:srgbClr val="0F3560"/>
          </a:solidFill>
          <a:ln/>
        </p:spPr>
      </p:sp>
      <p:pic>
        <p:nvPicPr>
          <p:cNvPr id="21" name="Image 7" descr="/home/claude/icons/target.png">    </p:cNvPr>
          <p:cNvPicPr>
            <a:picLocks noChangeAspect="1"/>
          </p:cNvPicPr>
          <p:nvPr/>
        </p:nvPicPr>
        <p:blipFill>
          <a:blip r:embed="rId8"/>
          <a:stretch>
            <a:fillRect/>
          </a:stretch>
        </p:blipFill>
        <p:spPr>
          <a:xfrm>
            <a:off x="6829654" y="5458054"/>
            <a:ext cx="559613" cy="559613"/>
          </a:xfrm>
          <a:prstGeom prst="rect">
            <a:avLst/>
          </a:prstGeom>
        </p:spPr>
      </p:pic>
      <p:sp>
        <p:nvSpPr>
          <p:cNvPr id="22" name="Text 12"/>
          <p:cNvSpPr/>
          <p:nvPr/>
        </p:nvSpPr>
        <p:spPr>
          <a:xfrm>
            <a:off x="6446520" y="6190488"/>
            <a:ext cx="1463040" cy="274320"/>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Evaluation</a:t>
            </a:r>
            <a:endParaRPr lang="en-US" sz="1150" dirty="0"/>
          </a:p>
        </p:txBody>
      </p:sp>
      <p:sp>
        <p:nvSpPr>
          <p:cNvPr id="23" name="Text 13"/>
          <p:cNvSpPr/>
          <p:nvPr/>
        </p:nvSpPr>
        <p:spPr>
          <a:xfrm>
            <a:off x="10725912" y="6446520"/>
            <a:ext cx="1188720" cy="274320"/>
          </a:xfrm>
          <a:prstGeom prst="rect">
            <a:avLst/>
          </a:prstGeom>
          <a:noFill/>
          <a:ln/>
        </p:spPr>
        <p:txBody>
          <a:bodyPr wrap="square" rtlCol="0" anchor="ctr"/>
          <a:lstStyle/>
          <a:p>
            <a:pPr algn="r" indent="0" marL="0">
              <a:buNone/>
            </a:pPr>
            <a:r>
              <a:rPr lang="en-US" sz="1100" dirty="0">
                <a:solidFill>
                  <a:srgbClr val="8FA7C4"/>
                </a:solidFill>
                <a:latin typeface="Calibri" pitchFamily="34" charset="0"/>
                <a:ea typeface="Calibri" pitchFamily="34" charset="-122"/>
                <a:cs typeface="Calibri" pitchFamily="34" charset="-120"/>
              </a:rPr>
              <a:t>06 / 07</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2647"/>
        </a:solidFill>
      </p:bgPr>
    </p:bg>
    <p:spTree>
      <p:nvGrpSpPr>
        <p:cNvPr id="1" name=""/>
        <p:cNvGrpSpPr/>
        <p:nvPr/>
      </p:nvGrpSpPr>
      <p:grpSpPr>
        <a:xfrm>
          <a:off x="0" y="0"/>
          <a:ext cx="0" cy="0"/>
          <a:chOff x="0" y="0"/>
          <a:chExt cx="0" cy="0"/>
        </a:xfrm>
      </p:grpSpPr>
      <p:sp>
        <p:nvSpPr>
          <p:cNvPr id="2" name="Shape 0"/>
          <p:cNvSpPr/>
          <p:nvPr/>
        </p:nvSpPr>
        <p:spPr>
          <a:xfrm>
            <a:off x="640080" y="548640"/>
            <a:ext cx="594360" cy="594360"/>
          </a:xfrm>
          <a:prstGeom prst="ellipse">
            <a:avLst/>
          </a:prstGeom>
          <a:solidFill>
            <a:srgbClr val="2E6DA4"/>
          </a:solidFill>
          <a:ln/>
        </p:spPr>
      </p:sp>
      <p:pic>
        <p:nvPicPr>
          <p:cNvPr id="3" name="Image 0" descr="/home/claude/icons/rocket.png">    </p:cNvPr>
          <p:cNvPicPr>
            <a:picLocks noChangeAspect="1"/>
          </p:cNvPicPr>
          <p:nvPr/>
        </p:nvPicPr>
        <p:blipFill>
          <a:blip r:embed="rId1"/>
          <a:stretch>
            <a:fillRect/>
          </a:stretch>
        </p:blipFill>
        <p:spPr>
          <a:xfrm>
            <a:off x="723290" y="631850"/>
            <a:ext cx="427939" cy="427939"/>
          </a:xfrm>
          <a:prstGeom prst="rect">
            <a:avLst/>
          </a:prstGeom>
        </p:spPr>
      </p:pic>
      <p:sp>
        <p:nvSpPr>
          <p:cNvPr id="4" name="Text 1"/>
          <p:cNvSpPr/>
          <p:nvPr/>
        </p:nvSpPr>
        <p:spPr>
          <a:xfrm>
            <a:off x="1417320" y="457200"/>
            <a:ext cx="5486400" cy="274320"/>
          </a:xfrm>
          <a:prstGeom prst="rect">
            <a:avLst/>
          </a:prstGeom>
          <a:noFill/>
          <a:ln/>
        </p:spPr>
        <p:txBody>
          <a:bodyPr wrap="square" rtlCol="0" anchor="ctr"/>
          <a:lstStyle/>
          <a:p>
            <a:pPr indent="0" marL="0">
              <a:buNone/>
            </a:pPr>
            <a:r>
              <a:rPr lang="en-US" sz="1200" b="1" spc="150" kern="0" dirty="0">
                <a:solidFill>
                  <a:srgbClr val="8FA7C4"/>
                </a:solidFill>
                <a:latin typeface="Calibri" pitchFamily="34" charset="0"/>
                <a:ea typeface="Calibri" pitchFamily="34" charset="-122"/>
                <a:cs typeface="Calibri" pitchFamily="34" charset="-120"/>
              </a:rPr>
              <a:t>WHAT COMES NEXT</a:t>
            </a:r>
            <a:endParaRPr lang="en-US" sz="1200" dirty="0"/>
          </a:p>
        </p:txBody>
      </p:sp>
      <p:sp>
        <p:nvSpPr>
          <p:cNvPr id="5" name="Text 2"/>
          <p:cNvSpPr/>
          <p:nvPr/>
        </p:nvSpPr>
        <p:spPr>
          <a:xfrm>
            <a:off x="1417320" y="685800"/>
            <a:ext cx="6400800" cy="5029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Future Scope</a:t>
            </a:r>
            <a:endParaRPr lang="en-US" sz="2600" dirty="0"/>
          </a:p>
        </p:txBody>
      </p:sp>
      <p:sp>
        <p:nvSpPr>
          <p:cNvPr id="6" name="Text 3"/>
          <p:cNvSpPr/>
          <p:nvPr/>
        </p:nvSpPr>
        <p:spPr>
          <a:xfrm>
            <a:off x="685800" y="1508760"/>
            <a:ext cx="5212080" cy="2560320"/>
          </a:xfrm>
          <a:prstGeom prst="rect">
            <a:avLst/>
          </a:prstGeom>
          <a:noFill/>
          <a:ln/>
        </p:spPr>
        <p:txBody>
          <a:bodyPr wrap="square" rtlCol="0" anchor="ctr"/>
          <a:lstStyle/>
          <a:p>
            <a:pPr marL="342900" indent="-342900">
              <a:lnSpc>
                <a:spcPts val="2400"/>
              </a:lnSpc>
              <a:spcAft>
                <a:spcPts val="1000"/>
              </a:spcAft>
              <a:buSzPct val="100000"/>
              <a:buChar char="•"/>
            </a:pPr>
            <a:r>
              <a:rPr lang="en-US" sz="1350" dirty="0">
                <a:solidFill>
                  <a:srgbClr val="FFFFFF"/>
                </a:solidFill>
                <a:latin typeface="Calibri" pitchFamily="34" charset="0"/>
                <a:ea typeface="Calibri" pitchFamily="34" charset="-122"/>
                <a:cs typeface="Calibri" pitchFamily="34" charset="-120"/>
              </a:rPr>
              <a:t>Use larger, real-time traffic datasets (GPS / IoT sensors)</a:t>
            </a:r>
            <a:endParaRPr lang="en-US" sz="1350" dirty="0"/>
          </a:p>
          <a:p>
            <a:pPr marL="342900" indent="-342900">
              <a:lnSpc>
                <a:spcPts val="2400"/>
              </a:lnSpc>
              <a:spcAft>
                <a:spcPts val="1000"/>
              </a:spcAft>
              <a:buSzPct val="100000"/>
              <a:buChar char="•"/>
            </a:pPr>
            <a:r>
              <a:rPr lang="en-US" sz="1350" dirty="0">
                <a:solidFill>
                  <a:srgbClr val="FFFFFF"/>
                </a:solidFill>
                <a:latin typeface="Calibri" pitchFamily="34" charset="0"/>
                <a:ea typeface="Calibri" pitchFamily="34" charset="-122"/>
                <a:cs typeface="Calibri" pitchFamily="34" charset="-120"/>
              </a:rPr>
              <a:t>Include weather and event-based factors</a:t>
            </a:r>
            <a:endParaRPr lang="en-US" sz="1350" dirty="0"/>
          </a:p>
          <a:p>
            <a:pPr marL="342900" indent="-342900">
              <a:lnSpc>
                <a:spcPts val="2400"/>
              </a:lnSpc>
              <a:spcAft>
                <a:spcPts val="1000"/>
              </a:spcAft>
              <a:buSzPct val="100000"/>
              <a:buChar char="•"/>
            </a:pPr>
            <a:r>
              <a:rPr lang="en-US" sz="1350" dirty="0">
                <a:solidFill>
                  <a:srgbClr val="FFFFFF"/>
                </a:solidFill>
                <a:latin typeface="Calibri" pitchFamily="34" charset="0"/>
                <a:ea typeface="Calibri" pitchFamily="34" charset="-122"/>
                <a:cs typeface="Calibri" pitchFamily="34" charset="-120"/>
              </a:rPr>
              <a:t>Apply advanced density-based methods (HDBSCAN, OPTICS)</a:t>
            </a:r>
            <a:endParaRPr lang="en-US" sz="1350" dirty="0"/>
          </a:p>
          <a:p>
            <a:pPr marL="342900" indent="-342900">
              <a:lnSpc>
                <a:spcPts val="2400"/>
              </a:lnSpc>
              <a:spcAft>
                <a:spcPts val="1000"/>
              </a:spcAft>
              <a:buSzPct val="100000"/>
              <a:buChar char="•"/>
            </a:pPr>
            <a:r>
              <a:rPr lang="en-US" sz="1350" dirty="0">
                <a:solidFill>
                  <a:srgbClr val="FFFFFF"/>
                </a:solidFill>
                <a:latin typeface="Calibri" pitchFamily="34" charset="0"/>
                <a:ea typeface="Calibri" pitchFamily="34" charset="-122"/>
                <a:cs typeface="Calibri" pitchFamily="34" charset="-120"/>
              </a:rPr>
              <a:t>Add road-type and lane-capacity attributes</a:t>
            </a:r>
            <a:endParaRPr lang="en-US" sz="1350" dirty="0"/>
          </a:p>
        </p:txBody>
      </p:sp>
      <p:sp>
        <p:nvSpPr>
          <p:cNvPr id="7" name="Text 4"/>
          <p:cNvSpPr/>
          <p:nvPr/>
        </p:nvSpPr>
        <p:spPr>
          <a:xfrm>
            <a:off x="6263640" y="1508760"/>
            <a:ext cx="5212080" cy="2560320"/>
          </a:xfrm>
          <a:prstGeom prst="rect">
            <a:avLst/>
          </a:prstGeom>
          <a:noFill/>
          <a:ln/>
        </p:spPr>
        <p:txBody>
          <a:bodyPr wrap="square" rtlCol="0" anchor="ctr"/>
          <a:lstStyle/>
          <a:p>
            <a:pPr marL="342900" indent="-342900">
              <a:lnSpc>
                <a:spcPts val="2400"/>
              </a:lnSpc>
              <a:spcAft>
                <a:spcPts val="1000"/>
              </a:spcAft>
              <a:buSzPct val="100000"/>
              <a:buChar char="•"/>
            </a:pPr>
            <a:r>
              <a:rPr lang="en-US" sz="1350" dirty="0">
                <a:solidFill>
                  <a:srgbClr val="FFFFFF"/>
                </a:solidFill>
                <a:latin typeface="Calibri" pitchFamily="34" charset="0"/>
                <a:ea typeface="Calibri" pitchFamily="34" charset="-122"/>
                <a:cs typeface="Calibri" pitchFamily="34" charset="-120"/>
              </a:rPr>
              <a:t>Integrate with live traffic maps and dashboards</a:t>
            </a:r>
            <a:endParaRPr lang="en-US" sz="1350" dirty="0"/>
          </a:p>
          <a:p>
            <a:pPr marL="342900" indent="-342900">
              <a:lnSpc>
                <a:spcPts val="2400"/>
              </a:lnSpc>
              <a:spcAft>
                <a:spcPts val="1000"/>
              </a:spcAft>
              <a:buSzPct val="100000"/>
              <a:buChar char="•"/>
            </a:pPr>
            <a:r>
              <a:rPr lang="en-US" sz="1350" dirty="0">
                <a:solidFill>
                  <a:srgbClr val="FFFFFF"/>
                </a:solidFill>
                <a:latin typeface="Calibri" pitchFamily="34" charset="0"/>
                <a:ea typeface="Calibri" pitchFamily="34" charset="-122"/>
                <a:cs typeface="Calibri" pitchFamily="34" charset="-120"/>
              </a:rPr>
              <a:t>Extend toward predictive traffic-flow forecasting</a:t>
            </a:r>
            <a:endParaRPr lang="en-US" sz="1350" dirty="0"/>
          </a:p>
          <a:p>
            <a:pPr marL="342900" indent="-342900">
              <a:lnSpc>
                <a:spcPts val="2400"/>
              </a:lnSpc>
              <a:spcAft>
                <a:spcPts val="1000"/>
              </a:spcAft>
              <a:buSzPct val="100000"/>
              <a:buChar char="•"/>
            </a:pPr>
            <a:r>
              <a:rPr lang="en-US" sz="1350" dirty="0">
                <a:solidFill>
                  <a:srgbClr val="FFFFFF"/>
                </a:solidFill>
                <a:latin typeface="Calibri" pitchFamily="34" charset="0"/>
                <a:ea typeface="Calibri" pitchFamily="34" charset="-122"/>
                <a:cs typeface="Calibri" pitchFamily="34" charset="-120"/>
              </a:rPr>
              <a:t>Deploy as a web-based smart traffic monitoring tool</a:t>
            </a:r>
            <a:endParaRPr lang="en-US" sz="1350" dirty="0"/>
          </a:p>
          <a:p>
            <a:pPr marL="342900" indent="-342900">
              <a:lnSpc>
                <a:spcPts val="2400"/>
              </a:lnSpc>
              <a:spcAft>
                <a:spcPts val="1000"/>
              </a:spcAft>
              <a:buSzPct val="100000"/>
              <a:buChar char="•"/>
            </a:pPr>
            <a:r>
              <a:rPr lang="en-US" sz="1350" dirty="0">
                <a:solidFill>
                  <a:srgbClr val="FFFFFF"/>
                </a:solidFill>
                <a:latin typeface="Calibri" pitchFamily="34" charset="0"/>
                <a:ea typeface="Calibri" pitchFamily="34" charset="-122"/>
                <a:cs typeface="Calibri" pitchFamily="34" charset="-120"/>
              </a:rPr>
              <a:t>Continuously retrain clusters as new data arrives</a:t>
            </a:r>
            <a:endParaRPr lang="en-US" sz="1350" dirty="0"/>
          </a:p>
        </p:txBody>
      </p:sp>
      <p:sp>
        <p:nvSpPr>
          <p:cNvPr id="8" name="Shape 5"/>
          <p:cNvSpPr/>
          <p:nvPr/>
        </p:nvSpPr>
        <p:spPr>
          <a:xfrm>
            <a:off x="685800" y="4709160"/>
            <a:ext cx="10652760" cy="1188720"/>
          </a:xfrm>
          <a:prstGeom prst="rect">
            <a:avLst>
              <a:gd name="adj" fmla="val 6154"/>
            </a:avLst>
          </a:prstGeom>
          <a:solidFill>
            <a:srgbClr val="0F3560"/>
          </a:solidFill>
          <a:ln/>
        </p:spPr>
      </p:sp>
      <p:sp>
        <p:nvSpPr>
          <p:cNvPr id="9" name="Text 6"/>
          <p:cNvSpPr/>
          <p:nvPr/>
        </p:nvSpPr>
        <p:spPr>
          <a:xfrm>
            <a:off x="685800" y="4709160"/>
            <a:ext cx="10652760" cy="1188720"/>
          </a:xfrm>
          <a:prstGeom prst="rect">
            <a:avLst/>
          </a:prstGeom>
          <a:noFill/>
          <a:ln/>
        </p:spPr>
        <p:txBody>
          <a:bodyPr wrap="square"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Thank You</a:t>
            </a:r>
            <a:endParaRPr lang="en-US" sz="2600" dirty="0"/>
          </a:p>
        </p:txBody>
      </p:sp>
      <p:sp>
        <p:nvSpPr>
          <p:cNvPr id="10" name="Text 7"/>
          <p:cNvSpPr/>
          <p:nvPr/>
        </p:nvSpPr>
        <p:spPr>
          <a:xfrm>
            <a:off x="10725912" y="6446520"/>
            <a:ext cx="1188720" cy="274320"/>
          </a:xfrm>
          <a:prstGeom prst="rect">
            <a:avLst/>
          </a:prstGeom>
          <a:noFill/>
          <a:ln/>
        </p:spPr>
        <p:txBody>
          <a:bodyPr wrap="square" rtlCol="0" anchor="ctr"/>
          <a:lstStyle/>
          <a:p>
            <a:pPr algn="r" indent="0" marL="0">
              <a:buNone/>
            </a:pPr>
            <a:r>
              <a:rPr lang="en-US" sz="1100" dirty="0">
                <a:solidFill>
                  <a:srgbClr val="8FA7C4"/>
                </a:solidFill>
                <a:latin typeface="Calibri" pitchFamily="34" charset="0"/>
                <a:ea typeface="Calibri" pitchFamily="34" charset="-122"/>
                <a:cs typeface="Calibri" pitchFamily="34" charset="-120"/>
              </a:rPr>
              <a:t>07 / 07</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2026-08-31T03:50:22Z</dcterms:created>
  <dcterms:modified xsi:type="dcterms:W3CDTF">2026-08-31T03:50:22Z</dcterms:modified>
</cp:coreProperties>
</file>